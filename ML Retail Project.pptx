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ricolage Grotesque Bold" charset="1" panose="020B0605040402000204"/>
      <p:regular r:id="rId21"/>
    </p:embeddedFont>
    <p:embeddedFont>
      <p:font typeface="Bricolage Grotesque" charset="1" panose="020B0605040402000204"/>
      <p:regular r:id="rId22"/>
    </p:embeddedFont>
    <p:embeddedFont>
      <p:font typeface="Canva Sans" charset="1" panose="020B05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389150">
            <a:off x="8324927" y="1829513"/>
            <a:ext cx="12935992" cy="6594820"/>
            <a:chOff x="0" y="0"/>
            <a:chExt cx="647700" cy="330200"/>
          </a:xfrm>
        </p:grpSpPr>
        <p:sp>
          <p:nvSpPr>
            <p:cNvPr name="Freeform 3" id="3"/>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FBFBF8"/>
            </a:solidFill>
          </p:spPr>
        </p:sp>
        <p:sp>
          <p:nvSpPr>
            <p:cNvPr name="TextBox 4" id="4"/>
            <p:cNvSpPr txBox="true"/>
            <p:nvPr/>
          </p:nvSpPr>
          <p:spPr>
            <a:xfrm>
              <a:off x="152400" y="12700"/>
              <a:ext cx="342900" cy="317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389150">
            <a:off x="9407117" y="2983090"/>
            <a:ext cx="8492068" cy="4329290"/>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FBFBF8"/>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0" y="8225886"/>
            <a:ext cx="2061114" cy="2061114"/>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BFBF8"/>
            </a:solidFill>
          </p:spPr>
        </p:sp>
        <p:sp>
          <p:nvSpPr>
            <p:cNvPr name="TextBox 10" id="10"/>
            <p:cNvSpPr txBox="true"/>
            <p:nvPr/>
          </p:nvSpPr>
          <p:spPr>
            <a:xfrm>
              <a:off x="165100" y="127000"/>
              <a:ext cx="393700" cy="4318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1028700" y="1803939"/>
            <a:ext cx="8618434" cy="1427544"/>
          </a:xfrm>
          <a:prstGeom prst="rect">
            <a:avLst/>
          </a:prstGeom>
        </p:spPr>
        <p:txBody>
          <a:bodyPr anchor="t" rtlCol="false" tIns="0" lIns="0" bIns="0" rIns="0">
            <a:spAutoFit/>
          </a:bodyPr>
          <a:lstStyle/>
          <a:p>
            <a:pPr algn="ctr">
              <a:lnSpc>
                <a:spcPts val="11684"/>
              </a:lnSpc>
            </a:pPr>
            <a:r>
              <a:rPr lang="en-US" b="true" sz="8346">
                <a:solidFill>
                  <a:srgbClr val="514338"/>
                </a:solidFill>
                <a:latin typeface="Bricolage Grotesque Bold"/>
                <a:ea typeface="Bricolage Grotesque Bold"/>
                <a:cs typeface="Bricolage Grotesque Bold"/>
                <a:sym typeface="Bricolage Grotesque Bold"/>
              </a:rPr>
              <a:t>ML Retail Project</a:t>
            </a:r>
          </a:p>
        </p:txBody>
      </p:sp>
      <p:sp>
        <p:nvSpPr>
          <p:cNvPr name="TextBox 12" id="12"/>
          <p:cNvSpPr txBox="true"/>
          <p:nvPr/>
        </p:nvSpPr>
        <p:spPr>
          <a:xfrm rot="0">
            <a:off x="1028700" y="4589494"/>
            <a:ext cx="8618434" cy="976631"/>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Bricolage Grotesque"/>
                <a:ea typeface="Bricolage Grotesque"/>
                <a:cs typeface="Bricolage Grotesque"/>
                <a:sym typeface="Bricolage Grotesque"/>
              </a:rPr>
              <a:t>Optimizing retail marketing strategies through behavior analysis and financial forecasting.</a:t>
            </a:r>
          </a:p>
        </p:txBody>
      </p:sp>
      <p:sp>
        <p:nvSpPr>
          <p:cNvPr name="TextBox 13" id="13"/>
          <p:cNvSpPr txBox="true"/>
          <p:nvPr/>
        </p:nvSpPr>
        <p:spPr>
          <a:xfrm rot="0">
            <a:off x="1028700" y="6914611"/>
            <a:ext cx="3961329" cy="1216026"/>
          </a:xfrm>
          <a:prstGeom prst="rect">
            <a:avLst/>
          </a:prstGeom>
        </p:spPr>
        <p:txBody>
          <a:bodyPr anchor="t" rtlCol="false" tIns="0" lIns="0" bIns="0" rIns="0">
            <a:spAutoFit/>
          </a:bodyPr>
          <a:lstStyle/>
          <a:p>
            <a:pPr algn="l">
              <a:lnSpc>
                <a:spcPts val="4899"/>
              </a:lnSpc>
            </a:pPr>
            <a:r>
              <a:rPr lang="en-US" sz="3499">
                <a:solidFill>
                  <a:srgbClr val="514338"/>
                </a:solidFill>
                <a:latin typeface="Bricolage Grotesque"/>
                <a:ea typeface="Bricolage Grotesque"/>
                <a:cs typeface="Bricolage Grotesque"/>
                <a:sym typeface="Bricolage Grotesque"/>
              </a:rPr>
              <a:t>Presented by: </a:t>
            </a:r>
          </a:p>
          <a:p>
            <a:pPr algn="l">
              <a:lnSpc>
                <a:spcPts val="4899"/>
              </a:lnSpc>
            </a:pPr>
            <a:r>
              <a:rPr lang="en-US" sz="3499">
                <a:solidFill>
                  <a:srgbClr val="514338"/>
                </a:solidFill>
                <a:latin typeface="Bricolage Grotesque"/>
                <a:ea typeface="Bricolage Grotesque"/>
                <a:cs typeface="Bricolage Grotesque"/>
                <a:sym typeface="Bricolage Grotesque"/>
              </a:rPr>
              <a:t>Layth Khemakhem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594212" y="-4217411"/>
            <a:ext cx="18060679" cy="10948144"/>
            <a:chOff x="0" y="0"/>
            <a:chExt cx="980897" cy="594607"/>
          </a:xfrm>
        </p:grpSpPr>
        <p:sp>
          <p:nvSpPr>
            <p:cNvPr name="Freeform 3" id="3"/>
            <p:cNvSpPr/>
            <p:nvPr/>
          </p:nvSpPr>
          <p:spPr>
            <a:xfrm flipH="false" flipV="false" rot="0">
              <a:off x="0" y="0"/>
              <a:ext cx="980897" cy="594607"/>
            </a:xfrm>
            <a:custGeom>
              <a:avLst/>
              <a:gdLst/>
              <a:ahLst/>
              <a:cxnLst/>
              <a:rect r="r" b="b" t="t" l="l"/>
              <a:pathLst>
                <a:path h="594607" w="980897">
                  <a:moveTo>
                    <a:pt x="0" y="594607"/>
                  </a:moveTo>
                  <a:cubicBezTo>
                    <a:pt x="0" y="438010"/>
                    <a:pt x="104630" y="284887"/>
                    <a:pt x="287298" y="174156"/>
                  </a:cubicBezTo>
                  <a:cubicBezTo>
                    <a:pt x="469965" y="63426"/>
                    <a:pt x="722567" y="0"/>
                    <a:pt x="980897" y="0"/>
                  </a:cubicBezTo>
                  <a:lnTo>
                    <a:pt x="980897" y="594607"/>
                  </a:lnTo>
                  <a:lnTo>
                    <a:pt x="0" y="594607"/>
                  </a:lnTo>
                  <a:close/>
                </a:path>
              </a:pathLst>
            </a:custGeom>
            <a:solidFill>
              <a:srgbClr val="FBFBF8"/>
            </a:solidFill>
          </p:spPr>
        </p:sp>
        <p:sp>
          <p:nvSpPr>
            <p:cNvPr name="TextBox 4" id="4"/>
            <p:cNvSpPr txBox="true"/>
            <p:nvPr/>
          </p:nvSpPr>
          <p:spPr>
            <a:xfrm>
              <a:off x="289810" y="137579"/>
              <a:ext cx="691086" cy="457027"/>
            </a:xfrm>
            <a:prstGeom prst="rect">
              <a:avLst/>
            </a:prstGeom>
          </p:spPr>
          <p:txBody>
            <a:bodyPr anchor="ctr" rtlCol="false" tIns="50800" lIns="50800" bIns="50800" rIns="50800"/>
            <a:lstStyle/>
            <a:p>
              <a:pPr algn="ctr" marL="0" indent="0" lvl="0">
                <a:lnSpc>
                  <a:spcPts val="2659"/>
                </a:lnSpc>
                <a:spcBef>
                  <a:spcPct val="0"/>
                </a:spcBef>
              </a:pPr>
            </a:p>
          </p:txBody>
        </p:sp>
      </p:grpSp>
      <p:graphicFrame>
        <p:nvGraphicFramePr>
          <p:cNvPr name="Table 5" id="5"/>
          <p:cNvGraphicFramePr>
            <a:graphicFrameLocks noGrp="true"/>
          </p:cNvGraphicFramePr>
          <p:nvPr/>
        </p:nvGraphicFramePr>
        <p:xfrm>
          <a:off x="6910199" y="0"/>
          <a:ext cx="11377801" cy="10239375"/>
        </p:xfrm>
        <a:graphic>
          <a:graphicData uri="http://schemas.openxmlformats.org/drawingml/2006/table">
            <a:tbl>
              <a:tblPr/>
              <a:tblGrid>
                <a:gridCol w="5688900"/>
                <a:gridCol w="5688900"/>
              </a:tblGrid>
              <a:tr h="2047875">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a:t>
                      </a:r>
                      <a:r>
                        <a:rPr lang="en-US" sz="3600" strike="noStrike" u="none">
                          <a:solidFill>
                            <a:srgbClr val="000000"/>
                          </a:solidFill>
                          <a:latin typeface="Bricolage Grotesque"/>
                          <a:ea typeface="Bricolage Grotesque"/>
                          <a:cs typeface="Bricolage Grotesque"/>
                          <a:sym typeface="Bricolage Grotesque"/>
                        </a:rPr>
                        <a:t>Introduction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a:t>
                      </a:r>
                      <a:r>
                        <a:rPr lang="en-US" sz="3600">
                          <a:solidFill>
                            <a:srgbClr val="000000"/>
                          </a:solidFill>
                          <a:latin typeface="Bricolage Grotesque"/>
                          <a:ea typeface="Bricolage Grotesque"/>
                          <a:cs typeface="Bricolage Grotesque"/>
                          <a:sym typeface="Bricolage Grotesque"/>
                        </a:rPr>
                        <a:t>Marketing Reven</a:t>
                      </a:r>
                      <a:r>
                        <a:rPr lang="en-US" sz="3600">
                          <a:solidFill>
                            <a:srgbClr val="000000"/>
                          </a:solidFill>
                          <a:latin typeface="Bricolage Grotesque"/>
                          <a:ea typeface="Bricolage Grotesque"/>
                          <a:cs typeface="Bricolage Grotesque"/>
                          <a:sym typeface="Bricolage Grotesque"/>
                        </a:rPr>
                        <a:t>ue Forecasting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2047875">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Workflow Pipeline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Web Application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2047875">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Data Pretreatment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Challenges Faced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2047875">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Churn Model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Areas of Improvement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2047875">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Behaviour Classifier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777240" indent="-388620" lvl="1">
                        <a:lnSpc>
                          <a:spcPts val="5040"/>
                        </a:lnSpc>
                        <a:spcBef>
                          <a:spcPct val="0"/>
                        </a:spcBef>
                        <a:buAutoNum type="arabicPeriod" startAt="1"/>
                        <a:defRPr/>
                      </a:pPr>
                      <a:r>
                        <a:rPr lang="en-US" sz="3600">
                          <a:solidFill>
                            <a:srgbClr val="000000"/>
                          </a:solidFill>
                          <a:latin typeface="Bricolage Grotesque"/>
                          <a:ea typeface="Bricolage Grotesque"/>
                          <a:cs typeface="Bricolage Grotesque"/>
                          <a:sym typeface="Bricolage Grotesque"/>
                        </a:rPr>
                        <a:t> Conclusion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14338"/>
                </a:solidFill>
                <a:latin typeface="Canva Sans"/>
                <a:ea typeface="Canva Sans"/>
                <a:cs typeface="Canva Sans"/>
                <a:sym typeface="Canva Sans"/>
              </a:rPr>
              <a:t>2</a:t>
            </a:r>
          </a:p>
        </p:txBody>
      </p:sp>
      <p:sp>
        <p:nvSpPr>
          <p:cNvPr name="TextBox 7" id="7"/>
          <p:cNvSpPr txBox="true"/>
          <p:nvPr/>
        </p:nvSpPr>
        <p:spPr>
          <a:xfrm rot="0">
            <a:off x="540702" y="65943"/>
            <a:ext cx="399160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Agenda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43988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499233" y="2247168"/>
            <a:ext cx="5986429" cy="4318961"/>
            <a:chOff x="0" y="0"/>
            <a:chExt cx="1126607" cy="812800"/>
          </a:xfrm>
        </p:grpSpPr>
        <p:sp>
          <p:nvSpPr>
            <p:cNvPr name="Freeform 6" id="6"/>
            <p:cNvSpPr/>
            <p:nvPr/>
          </p:nvSpPr>
          <p:spPr>
            <a:xfrm flipH="false" flipV="false" rot="0">
              <a:off x="0" y="0"/>
              <a:ext cx="1126607" cy="812800"/>
            </a:xfrm>
            <a:custGeom>
              <a:avLst/>
              <a:gdLst/>
              <a:ahLst/>
              <a:cxnLst/>
              <a:rect r="r" b="b" t="t" l="l"/>
              <a:pathLst>
                <a:path h="812800" w="1126607">
                  <a:moveTo>
                    <a:pt x="51730" y="0"/>
                  </a:moveTo>
                  <a:lnTo>
                    <a:pt x="1074877" y="0"/>
                  </a:lnTo>
                  <a:cubicBezTo>
                    <a:pt x="1103446" y="0"/>
                    <a:pt x="1126607" y="23160"/>
                    <a:pt x="1126607" y="51730"/>
                  </a:cubicBezTo>
                  <a:lnTo>
                    <a:pt x="1126607" y="761070"/>
                  </a:lnTo>
                  <a:cubicBezTo>
                    <a:pt x="1126607" y="789640"/>
                    <a:pt x="1103446" y="812800"/>
                    <a:pt x="1074877" y="812800"/>
                  </a:cubicBezTo>
                  <a:lnTo>
                    <a:pt x="51730" y="812800"/>
                  </a:lnTo>
                  <a:cubicBezTo>
                    <a:pt x="23160" y="812800"/>
                    <a:pt x="0" y="789640"/>
                    <a:pt x="0" y="761070"/>
                  </a:cubicBezTo>
                  <a:lnTo>
                    <a:pt x="0" y="51730"/>
                  </a:lnTo>
                  <a:cubicBezTo>
                    <a:pt x="0" y="23160"/>
                    <a:pt x="23160" y="0"/>
                    <a:pt x="51730" y="0"/>
                  </a:cubicBezTo>
                  <a:close/>
                </a:path>
              </a:pathLst>
            </a:custGeom>
            <a:blipFill>
              <a:blip r:embed="rId2"/>
              <a:stretch>
                <a:fillRect l="0" t="0" r="-138095" b="-38608"/>
              </a:stretch>
            </a:blipFill>
            <a:ln w="38100" cap="rnd">
              <a:solidFill>
                <a:srgbClr val="514338"/>
              </a:solidFill>
              <a:prstDash val="solid"/>
              <a:round/>
            </a:ln>
          </p:spPr>
        </p:sp>
      </p:grpSp>
      <p:grpSp>
        <p:nvGrpSpPr>
          <p:cNvPr name="Group 7" id="7"/>
          <p:cNvGrpSpPr/>
          <p:nvPr/>
        </p:nvGrpSpPr>
        <p:grpSpPr>
          <a:xfrm rot="0">
            <a:off x="11272871" y="5225089"/>
            <a:ext cx="5986429" cy="4318961"/>
            <a:chOff x="0" y="0"/>
            <a:chExt cx="1126607" cy="812800"/>
          </a:xfrm>
        </p:grpSpPr>
        <p:sp>
          <p:nvSpPr>
            <p:cNvPr name="Freeform 8" id="8"/>
            <p:cNvSpPr/>
            <p:nvPr/>
          </p:nvSpPr>
          <p:spPr>
            <a:xfrm flipH="false" flipV="false" rot="0">
              <a:off x="0" y="0"/>
              <a:ext cx="1126607" cy="812800"/>
            </a:xfrm>
            <a:custGeom>
              <a:avLst/>
              <a:gdLst/>
              <a:ahLst/>
              <a:cxnLst/>
              <a:rect r="r" b="b" t="t" l="l"/>
              <a:pathLst>
                <a:path h="812800" w="1126607">
                  <a:moveTo>
                    <a:pt x="51730" y="0"/>
                  </a:moveTo>
                  <a:lnTo>
                    <a:pt x="1074877" y="0"/>
                  </a:lnTo>
                  <a:cubicBezTo>
                    <a:pt x="1103446" y="0"/>
                    <a:pt x="1126607" y="23160"/>
                    <a:pt x="1126607" y="51730"/>
                  </a:cubicBezTo>
                  <a:lnTo>
                    <a:pt x="1126607" y="761070"/>
                  </a:lnTo>
                  <a:cubicBezTo>
                    <a:pt x="1126607" y="789640"/>
                    <a:pt x="1103446" y="812800"/>
                    <a:pt x="1074877" y="812800"/>
                  </a:cubicBezTo>
                  <a:lnTo>
                    <a:pt x="51730" y="812800"/>
                  </a:lnTo>
                  <a:cubicBezTo>
                    <a:pt x="23160" y="812800"/>
                    <a:pt x="0" y="789640"/>
                    <a:pt x="0" y="761070"/>
                  </a:cubicBezTo>
                  <a:lnTo>
                    <a:pt x="0" y="51730"/>
                  </a:lnTo>
                  <a:cubicBezTo>
                    <a:pt x="0" y="23160"/>
                    <a:pt x="23160" y="0"/>
                    <a:pt x="51730" y="0"/>
                  </a:cubicBezTo>
                  <a:close/>
                </a:path>
              </a:pathLst>
            </a:custGeom>
            <a:blipFill>
              <a:blip r:embed="rId3"/>
              <a:stretch>
                <a:fillRect l="-28419" t="0" r="-28419" b="0"/>
              </a:stretch>
            </a:blipFill>
            <a:ln w="38100" cap="rnd">
              <a:solidFill>
                <a:srgbClr val="514338"/>
              </a:solidFill>
              <a:prstDash val="solid"/>
              <a:round/>
            </a:ln>
          </p:spPr>
        </p:sp>
      </p:gr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name="TextBox 10" id="10"/>
          <p:cNvSpPr txBox="true"/>
          <p:nvPr/>
        </p:nvSpPr>
        <p:spPr>
          <a:xfrm rot="0">
            <a:off x="540702" y="65943"/>
            <a:ext cx="6511736"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Introduction</a:t>
            </a:r>
          </a:p>
        </p:txBody>
      </p:sp>
      <p:sp>
        <p:nvSpPr>
          <p:cNvPr name="TextBox 11" id="11"/>
          <p:cNvSpPr txBox="true"/>
          <p:nvPr/>
        </p:nvSpPr>
        <p:spPr>
          <a:xfrm rot="0">
            <a:off x="540702" y="4573181"/>
            <a:ext cx="7553325" cy="3919220"/>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Bricolage Grotesque"/>
                <a:ea typeface="Bricolage Grotesque"/>
                <a:cs typeface="Bricolage Grotesque"/>
                <a:sym typeface="Bricolage Grotesque"/>
              </a:rPr>
              <a:t>End-to-end machine learning pipeline</a:t>
            </a:r>
          </a:p>
          <a:p>
            <a:pPr algn="just">
              <a:lnSpc>
                <a:spcPts val="4480"/>
              </a:lnSpc>
              <a:spcBef>
                <a:spcPct val="0"/>
              </a:spcBef>
            </a:pPr>
            <a:r>
              <a:rPr lang="en-US" b="true" sz="3200">
                <a:solidFill>
                  <a:srgbClr val="000000"/>
                </a:solidFill>
                <a:latin typeface="Bricolage Grotesque Bold"/>
                <a:ea typeface="Bricolage Grotesque Bold"/>
                <a:cs typeface="Bricolage Grotesque Bold"/>
                <a:sym typeface="Bricolage Grotesque Bold"/>
              </a:rPr>
              <a:t>Goal:</a:t>
            </a:r>
            <a:r>
              <a:rPr lang="en-US" sz="3200">
                <a:solidFill>
                  <a:srgbClr val="000000"/>
                </a:solidFill>
                <a:latin typeface="Bricolage Grotesque"/>
                <a:ea typeface="Bricolage Grotesque"/>
                <a:cs typeface="Bricolage Grotesque"/>
                <a:sym typeface="Bricolage Grotesque"/>
              </a:rPr>
              <a:t> optimize marketing decisions</a:t>
            </a:r>
          </a:p>
          <a:p>
            <a:pPr algn="just">
              <a:lnSpc>
                <a:spcPts val="4480"/>
              </a:lnSpc>
              <a:spcBef>
                <a:spcPct val="0"/>
              </a:spcBef>
            </a:pPr>
            <a:r>
              <a:rPr lang="en-US" sz="3200">
                <a:solidFill>
                  <a:srgbClr val="000000"/>
                </a:solidFill>
                <a:latin typeface="Bricolage Grotesque"/>
                <a:ea typeface="Bricolage Grotesque"/>
                <a:cs typeface="Bricolage Grotesque"/>
                <a:sym typeface="Bricolage Grotesque"/>
              </a:rPr>
              <a:t>Combines:</a:t>
            </a:r>
          </a:p>
          <a:p>
            <a:pPr algn="l" marL="690881" indent="-345440" lvl="1">
              <a:lnSpc>
                <a:spcPts val="4480"/>
              </a:lnSpc>
              <a:buFont typeface="Arial"/>
              <a:buChar char="•"/>
            </a:pPr>
            <a:r>
              <a:rPr lang="en-US" sz="3200">
                <a:solidFill>
                  <a:srgbClr val="000000"/>
                </a:solidFill>
                <a:latin typeface="Bricolage Grotesque"/>
                <a:ea typeface="Bricolage Grotesque"/>
                <a:cs typeface="Bricolage Grotesque"/>
                <a:sym typeface="Bricolage Grotesque"/>
              </a:rPr>
              <a:t>Customer churn prediction</a:t>
            </a:r>
          </a:p>
          <a:p>
            <a:pPr algn="l" marL="690881" indent="-345440" lvl="1">
              <a:lnSpc>
                <a:spcPts val="4480"/>
              </a:lnSpc>
              <a:buFont typeface="Arial"/>
              <a:buChar char="•"/>
            </a:pPr>
            <a:r>
              <a:rPr lang="en-US" sz="3200">
                <a:solidFill>
                  <a:srgbClr val="000000"/>
                </a:solidFill>
                <a:latin typeface="Bricolage Grotesque"/>
                <a:ea typeface="Bricolage Grotesque"/>
                <a:cs typeface="Bricolage Grotesque"/>
                <a:sym typeface="Bricolage Grotesque"/>
              </a:rPr>
              <a:t>Customer segmentation</a:t>
            </a:r>
          </a:p>
          <a:p>
            <a:pPr algn="l" marL="690881" indent="-345440" lvl="1">
              <a:lnSpc>
                <a:spcPts val="4480"/>
              </a:lnSpc>
              <a:buFont typeface="Arial"/>
              <a:buChar char="•"/>
            </a:pPr>
            <a:r>
              <a:rPr lang="en-US" sz="3200">
                <a:solidFill>
                  <a:srgbClr val="000000"/>
                </a:solidFill>
                <a:latin typeface="Bricolage Grotesque"/>
                <a:ea typeface="Bricolage Grotesque"/>
                <a:cs typeface="Bricolage Grotesque"/>
                <a:sym typeface="Bricolage Grotesque"/>
              </a:rPr>
              <a:t>Revenue forecasting</a:t>
            </a:r>
          </a:p>
          <a:p>
            <a:pPr algn="just">
              <a:lnSpc>
                <a:spcPts val="4480"/>
              </a:lnSpc>
              <a:spcBef>
                <a:spcPct val="0"/>
              </a:spcBef>
            </a:pPr>
            <a:r>
              <a:rPr lang="en-US" sz="3200">
                <a:solidFill>
                  <a:srgbClr val="000000"/>
                </a:solidFill>
                <a:latin typeface="Bricolage Grotesque"/>
                <a:ea typeface="Bricolage Grotesque"/>
                <a:cs typeface="Bricolage Grotesque"/>
                <a:sym typeface="Bricolage Grotesque"/>
              </a:rPr>
              <a:t>Delivered via interactive web dashboard</a:t>
            </a:r>
          </a:p>
        </p:txBody>
      </p:sp>
      <p:sp>
        <p:nvSpPr>
          <p:cNvPr name="TextBox 12" id="12"/>
          <p:cNvSpPr txBox="true"/>
          <p:nvPr/>
        </p:nvSpPr>
        <p:spPr>
          <a:xfrm rot="0">
            <a:off x="540702" y="3250773"/>
            <a:ext cx="3917990" cy="830580"/>
          </a:xfrm>
          <a:prstGeom prst="rect">
            <a:avLst/>
          </a:prstGeom>
        </p:spPr>
        <p:txBody>
          <a:bodyPr anchor="t" rtlCol="false" tIns="0" lIns="0" bIns="0" rIns="0">
            <a:spAutoFit/>
          </a:bodyPr>
          <a:lstStyle/>
          <a:p>
            <a:pPr algn="just">
              <a:lnSpc>
                <a:spcPts val="6719"/>
              </a:lnSpc>
              <a:spcBef>
                <a:spcPct val="0"/>
              </a:spcBef>
            </a:pPr>
            <a:r>
              <a:rPr lang="en-US" b="true" sz="4800">
                <a:solidFill>
                  <a:srgbClr val="000000"/>
                </a:solidFill>
                <a:latin typeface="Bricolage Grotesque Bold"/>
                <a:ea typeface="Bricolage Grotesque Bold"/>
                <a:cs typeface="Bricolage Grotesque Bold"/>
                <a:sym typeface="Bricolage Grotesque Bold"/>
              </a:rPr>
              <a:t>Project Goals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 </a:t>
            </a:r>
            <a:r>
              <a:rPr lang="en-US" sz="8346" b="true">
                <a:solidFill>
                  <a:srgbClr val="514338"/>
                </a:solidFill>
                <a:latin typeface="Bricolage Grotesque Bold"/>
                <a:ea typeface="Bricolage Grotesque Bold"/>
                <a:cs typeface="Bricolage Grotesque Bold"/>
                <a:sym typeface="Bricolage Grotesque Bold"/>
              </a:rPr>
              <a:t>Wo</a:t>
            </a:r>
            <a:r>
              <a:rPr lang="en-US" sz="8346" b="true">
                <a:solidFill>
                  <a:srgbClr val="514338"/>
                </a:solidFill>
                <a:latin typeface="Bricolage Grotesque Bold"/>
                <a:ea typeface="Bricolage Grotesque Bold"/>
                <a:cs typeface="Bricolage Grotesque Bold"/>
                <a:sym typeface="Bricolage Grotesque Bold"/>
              </a:rPr>
              <a:t>rkflow Pipeline</a:t>
            </a:r>
          </a:p>
        </p:txBody>
      </p:sp>
      <p:sp>
        <p:nvSpPr>
          <p:cNvPr name="AutoShape 7" id="7"/>
          <p:cNvSpPr/>
          <p:nvPr/>
        </p:nvSpPr>
        <p:spPr>
          <a:xfrm>
            <a:off x="5238825" y="4373430"/>
            <a:ext cx="2011852" cy="0"/>
          </a:xfrm>
          <a:prstGeom prst="line">
            <a:avLst/>
          </a:prstGeom>
          <a:ln cap="flat" w="66675">
            <a:solidFill>
              <a:srgbClr val="000000"/>
            </a:solidFill>
            <a:prstDash val="solid"/>
            <a:headEnd type="none" len="sm" w="sm"/>
            <a:tailEnd type="arrow" len="sm" w="med"/>
          </a:ln>
        </p:spPr>
      </p:sp>
      <p:grpSp>
        <p:nvGrpSpPr>
          <p:cNvPr name="Group 8" id="8"/>
          <p:cNvGrpSpPr/>
          <p:nvPr/>
        </p:nvGrpSpPr>
        <p:grpSpPr>
          <a:xfrm rot="0">
            <a:off x="1660237" y="3447003"/>
            <a:ext cx="3370531" cy="1852855"/>
            <a:chOff x="0" y="0"/>
            <a:chExt cx="812800" cy="446814"/>
          </a:xfrm>
        </p:grpSpPr>
        <p:sp>
          <p:nvSpPr>
            <p:cNvPr name="Freeform 9" id="9"/>
            <p:cNvSpPr/>
            <p:nvPr/>
          </p:nvSpPr>
          <p:spPr>
            <a:xfrm flipH="false" flipV="false" rot="0">
              <a:off x="0" y="0"/>
              <a:ext cx="812800" cy="446814"/>
            </a:xfrm>
            <a:custGeom>
              <a:avLst/>
              <a:gdLst/>
              <a:ahLst/>
              <a:cxnLst/>
              <a:rect r="r" b="b" t="t" l="l"/>
              <a:pathLst>
                <a:path h="446814" w="812800">
                  <a:moveTo>
                    <a:pt x="812800" y="68908"/>
                  </a:moveTo>
                  <a:lnTo>
                    <a:pt x="812800" y="377906"/>
                  </a:lnTo>
                  <a:cubicBezTo>
                    <a:pt x="812800" y="415963"/>
                    <a:pt x="781949" y="446814"/>
                    <a:pt x="743892" y="446814"/>
                  </a:cubicBezTo>
                  <a:lnTo>
                    <a:pt x="68908" y="446814"/>
                  </a:lnTo>
                  <a:cubicBezTo>
                    <a:pt x="50633" y="446814"/>
                    <a:pt x="33106" y="439554"/>
                    <a:pt x="20183" y="426631"/>
                  </a:cubicBezTo>
                  <a:cubicBezTo>
                    <a:pt x="7260" y="413708"/>
                    <a:pt x="0" y="396181"/>
                    <a:pt x="0" y="377906"/>
                  </a:cubicBezTo>
                  <a:lnTo>
                    <a:pt x="0" y="68908"/>
                  </a:lnTo>
                  <a:cubicBezTo>
                    <a:pt x="0" y="50633"/>
                    <a:pt x="7260" y="33106"/>
                    <a:pt x="20183" y="20183"/>
                  </a:cubicBezTo>
                  <a:cubicBezTo>
                    <a:pt x="33106" y="7260"/>
                    <a:pt x="50633" y="0"/>
                    <a:pt x="68908" y="0"/>
                  </a:cubicBezTo>
                  <a:lnTo>
                    <a:pt x="743892" y="0"/>
                  </a:lnTo>
                  <a:cubicBezTo>
                    <a:pt x="762167" y="0"/>
                    <a:pt x="779694" y="7260"/>
                    <a:pt x="792617" y="20183"/>
                  </a:cubicBezTo>
                  <a:cubicBezTo>
                    <a:pt x="805540" y="33106"/>
                    <a:pt x="812800" y="50633"/>
                    <a:pt x="812800" y="68908"/>
                  </a:cubicBezTo>
                  <a:close/>
                </a:path>
              </a:pathLst>
            </a:custGeom>
            <a:solidFill>
              <a:srgbClr val="EBEBDD"/>
            </a:solidFill>
            <a:ln w="57150" cap="rnd">
              <a:solidFill>
                <a:srgbClr val="514338"/>
              </a:solidFill>
              <a:prstDash val="solid"/>
              <a:round/>
            </a:ln>
          </p:spPr>
        </p:sp>
        <p:sp>
          <p:nvSpPr>
            <p:cNvPr name="TextBox 10" id="10"/>
            <p:cNvSpPr txBox="true"/>
            <p:nvPr/>
          </p:nvSpPr>
          <p:spPr>
            <a:xfrm>
              <a:off x="0" y="-66675"/>
              <a:ext cx="812800"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Raw Data</a:t>
              </a:r>
            </a:p>
          </p:txBody>
        </p:sp>
      </p:grpSp>
      <p:sp>
        <p:nvSpPr>
          <p:cNvPr name="AutoShape 11" id="11"/>
          <p:cNvSpPr/>
          <p:nvPr/>
        </p:nvSpPr>
        <p:spPr>
          <a:xfrm>
            <a:off x="11037323" y="4373430"/>
            <a:ext cx="2011852" cy="0"/>
          </a:xfrm>
          <a:prstGeom prst="line">
            <a:avLst/>
          </a:prstGeom>
          <a:ln cap="flat" w="66675">
            <a:solidFill>
              <a:srgbClr val="000000"/>
            </a:solidFill>
            <a:prstDash val="solid"/>
            <a:headEnd type="none" len="sm" w="sm"/>
            <a:tailEnd type="arrow" len="sm" w="med"/>
          </a:ln>
        </p:spPr>
      </p:sp>
      <p:grpSp>
        <p:nvGrpSpPr>
          <p:cNvPr name="Group 12" id="12"/>
          <p:cNvGrpSpPr/>
          <p:nvPr/>
        </p:nvGrpSpPr>
        <p:grpSpPr>
          <a:xfrm rot="0">
            <a:off x="7458734" y="3447003"/>
            <a:ext cx="3370531" cy="1852855"/>
            <a:chOff x="0" y="0"/>
            <a:chExt cx="812800" cy="446814"/>
          </a:xfrm>
        </p:grpSpPr>
        <p:sp>
          <p:nvSpPr>
            <p:cNvPr name="Freeform 13" id="13"/>
            <p:cNvSpPr/>
            <p:nvPr/>
          </p:nvSpPr>
          <p:spPr>
            <a:xfrm flipH="false" flipV="false" rot="0">
              <a:off x="0" y="0"/>
              <a:ext cx="812800" cy="446814"/>
            </a:xfrm>
            <a:custGeom>
              <a:avLst/>
              <a:gdLst/>
              <a:ahLst/>
              <a:cxnLst/>
              <a:rect r="r" b="b" t="t" l="l"/>
              <a:pathLst>
                <a:path h="446814" w="812800">
                  <a:moveTo>
                    <a:pt x="812800" y="68908"/>
                  </a:moveTo>
                  <a:lnTo>
                    <a:pt x="812800" y="377906"/>
                  </a:lnTo>
                  <a:cubicBezTo>
                    <a:pt x="812800" y="415963"/>
                    <a:pt x="781949" y="446814"/>
                    <a:pt x="743892" y="446814"/>
                  </a:cubicBezTo>
                  <a:lnTo>
                    <a:pt x="68908" y="446814"/>
                  </a:lnTo>
                  <a:cubicBezTo>
                    <a:pt x="50633" y="446814"/>
                    <a:pt x="33106" y="439554"/>
                    <a:pt x="20183" y="426631"/>
                  </a:cubicBezTo>
                  <a:cubicBezTo>
                    <a:pt x="7260" y="413708"/>
                    <a:pt x="0" y="396181"/>
                    <a:pt x="0" y="377906"/>
                  </a:cubicBezTo>
                  <a:lnTo>
                    <a:pt x="0" y="68908"/>
                  </a:lnTo>
                  <a:cubicBezTo>
                    <a:pt x="0" y="50633"/>
                    <a:pt x="7260" y="33106"/>
                    <a:pt x="20183" y="20183"/>
                  </a:cubicBezTo>
                  <a:cubicBezTo>
                    <a:pt x="33106" y="7260"/>
                    <a:pt x="50633" y="0"/>
                    <a:pt x="68908" y="0"/>
                  </a:cubicBezTo>
                  <a:lnTo>
                    <a:pt x="743892" y="0"/>
                  </a:lnTo>
                  <a:cubicBezTo>
                    <a:pt x="762167" y="0"/>
                    <a:pt x="779694" y="7260"/>
                    <a:pt x="792617" y="20183"/>
                  </a:cubicBezTo>
                  <a:cubicBezTo>
                    <a:pt x="805540" y="33106"/>
                    <a:pt x="812800" y="50633"/>
                    <a:pt x="812800" y="68908"/>
                  </a:cubicBezTo>
                  <a:close/>
                </a:path>
              </a:pathLst>
            </a:custGeom>
            <a:solidFill>
              <a:srgbClr val="EBEBDD"/>
            </a:solidFill>
            <a:ln w="57150" cap="rnd">
              <a:solidFill>
                <a:srgbClr val="514338"/>
              </a:solidFill>
              <a:prstDash val="solid"/>
              <a:round/>
            </a:ln>
          </p:spPr>
        </p:sp>
        <p:sp>
          <p:nvSpPr>
            <p:cNvPr name="TextBox 14" id="14"/>
            <p:cNvSpPr txBox="true"/>
            <p:nvPr/>
          </p:nvSpPr>
          <p:spPr>
            <a:xfrm>
              <a:off x="0" y="-66675"/>
              <a:ext cx="812800"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Data Cleaning</a:t>
              </a:r>
            </a:p>
          </p:txBody>
        </p:sp>
      </p:grpSp>
      <p:sp>
        <p:nvSpPr>
          <p:cNvPr name="AutoShape 15" id="15"/>
          <p:cNvSpPr/>
          <p:nvPr/>
        </p:nvSpPr>
        <p:spPr>
          <a:xfrm>
            <a:off x="14942498" y="5550640"/>
            <a:ext cx="0" cy="1557047"/>
          </a:xfrm>
          <a:prstGeom prst="line">
            <a:avLst/>
          </a:prstGeom>
          <a:ln cap="flat" w="66675">
            <a:solidFill>
              <a:srgbClr val="000000"/>
            </a:solidFill>
            <a:prstDash val="solid"/>
            <a:headEnd type="none" len="sm" w="sm"/>
            <a:tailEnd type="arrow" len="sm" w="med"/>
          </a:ln>
        </p:spPr>
      </p:sp>
      <p:grpSp>
        <p:nvGrpSpPr>
          <p:cNvPr name="Group 16" id="16"/>
          <p:cNvGrpSpPr/>
          <p:nvPr/>
        </p:nvGrpSpPr>
        <p:grpSpPr>
          <a:xfrm rot="0">
            <a:off x="13257232" y="3447003"/>
            <a:ext cx="3370531" cy="1852855"/>
            <a:chOff x="0" y="0"/>
            <a:chExt cx="812800" cy="446814"/>
          </a:xfrm>
        </p:grpSpPr>
        <p:sp>
          <p:nvSpPr>
            <p:cNvPr name="Freeform 17" id="17"/>
            <p:cNvSpPr/>
            <p:nvPr/>
          </p:nvSpPr>
          <p:spPr>
            <a:xfrm flipH="false" flipV="false" rot="0">
              <a:off x="0" y="0"/>
              <a:ext cx="812800" cy="446814"/>
            </a:xfrm>
            <a:custGeom>
              <a:avLst/>
              <a:gdLst/>
              <a:ahLst/>
              <a:cxnLst/>
              <a:rect r="r" b="b" t="t" l="l"/>
              <a:pathLst>
                <a:path h="446814" w="812800">
                  <a:moveTo>
                    <a:pt x="812800" y="68908"/>
                  </a:moveTo>
                  <a:lnTo>
                    <a:pt x="812800" y="377906"/>
                  </a:lnTo>
                  <a:cubicBezTo>
                    <a:pt x="812800" y="415963"/>
                    <a:pt x="781949" y="446814"/>
                    <a:pt x="743892" y="446814"/>
                  </a:cubicBezTo>
                  <a:lnTo>
                    <a:pt x="68908" y="446814"/>
                  </a:lnTo>
                  <a:cubicBezTo>
                    <a:pt x="50633" y="446814"/>
                    <a:pt x="33106" y="439554"/>
                    <a:pt x="20183" y="426631"/>
                  </a:cubicBezTo>
                  <a:cubicBezTo>
                    <a:pt x="7260" y="413708"/>
                    <a:pt x="0" y="396181"/>
                    <a:pt x="0" y="377906"/>
                  </a:cubicBezTo>
                  <a:lnTo>
                    <a:pt x="0" y="68908"/>
                  </a:lnTo>
                  <a:cubicBezTo>
                    <a:pt x="0" y="50633"/>
                    <a:pt x="7260" y="33106"/>
                    <a:pt x="20183" y="20183"/>
                  </a:cubicBezTo>
                  <a:cubicBezTo>
                    <a:pt x="33106" y="7260"/>
                    <a:pt x="50633" y="0"/>
                    <a:pt x="68908" y="0"/>
                  </a:cubicBezTo>
                  <a:lnTo>
                    <a:pt x="743892" y="0"/>
                  </a:lnTo>
                  <a:cubicBezTo>
                    <a:pt x="762167" y="0"/>
                    <a:pt x="779694" y="7260"/>
                    <a:pt x="792617" y="20183"/>
                  </a:cubicBezTo>
                  <a:cubicBezTo>
                    <a:pt x="805540" y="33106"/>
                    <a:pt x="812800" y="50633"/>
                    <a:pt x="812800" y="68908"/>
                  </a:cubicBezTo>
                  <a:close/>
                </a:path>
              </a:pathLst>
            </a:custGeom>
            <a:solidFill>
              <a:srgbClr val="EBEBDD"/>
            </a:solidFill>
            <a:ln w="57150" cap="rnd">
              <a:solidFill>
                <a:srgbClr val="514338"/>
              </a:solidFill>
              <a:prstDash val="solid"/>
              <a:round/>
            </a:ln>
          </p:spPr>
        </p:sp>
        <p:sp>
          <p:nvSpPr>
            <p:cNvPr name="TextBox 18" id="18"/>
            <p:cNvSpPr txBox="true"/>
            <p:nvPr/>
          </p:nvSpPr>
          <p:spPr>
            <a:xfrm>
              <a:off x="0" y="-66675"/>
              <a:ext cx="812800"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Data Filling</a:t>
              </a:r>
            </a:p>
          </p:txBody>
        </p:sp>
      </p:grpSp>
      <p:sp>
        <p:nvSpPr>
          <p:cNvPr name="AutoShape 19" id="19"/>
          <p:cNvSpPr/>
          <p:nvPr/>
        </p:nvSpPr>
        <p:spPr>
          <a:xfrm>
            <a:off x="5238825" y="8327666"/>
            <a:ext cx="2011852" cy="0"/>
          </a:xfrm>
          <a:prstGeom prst="line">
            <a:avLst/>
          </a:prstGeom>
          <a:ln cap="flat" w="66675">
            <a:solidFill>
              <a:srgbClr val="000000"/>
            </a:solidFill>
            <a:prstDash val="solid"/>
            <a:headEnd type="arrow" len="sm" w="med"/>
            <a:tailEnd type="none" len="sm" w="sm"/>
          </a:ln>
        </p:spPr>
      </p:sp>
      <p:grpSp>
        <p:nvGrpSpPr>
          <p:cNvPr name="Group 20" id="20"/>
          <p:cNvGrpSpPr/>
          <p:nvPr/>
        </p:nvGrpSpPr>
        <p:grpSpPr>
          <a:xfrm rot="0">
            <a:off x="1660237" y="7401239"/>
            <a:ext cx="3370531" cy="1852855"/>
            <a:chOff x="0" y="0"/>
            <a:chExt cx="812800" cy="446814"/>
          </a:xfrm>
        </p:grpSpPr>
        <p:sp>
          <p:nvSpPr>
            <p:cNvPr name="Freeform 21" id="21"/>
            <p:cNvSpPr/>
            <p:nvPr/>
          </p:nvSpPr>
          <p:spPr>
            <a:xfrm flipH="false" flipV="false" rot="0">
              <a:off x="0" y="0"/>
              <a:ext cx="812800" cy="446814"/>
            </a:xfrm>
            <a:custGeom>
              <a:avLst/>
              <a:gdLst/>
              <a:ahLst/>
              <a:cxnLst/>
              <a:rect r="r" b="b" t="t" l="l"/>
              <a:pathLst>
                <a:path h="446814" w="812800">
                  <a:moveTo>
                    <a:pt x="812800" y="68908"/>
                  </a:moveTo>
                  <a:lnTo>
                    <a:pt x="812800" y="377906"/>
                  </a:lnTo>
                  <a:cubicBezTo>
                    <a:pt x="812800" y="415963"/>
                    <a:pt x="781949" y="446814"/>
                    <a:pt x="743892" y="446814"/>
                  </a:cubicBezTo>
                  <a:lnTo>
                    <a:pt x="68908" y="446814"/>
                  </a:lnTo>
                  <a:cubicBezTo>
                    <a:pt x="50633" y="446814"/>
                    <a:pt x="33106" y="439554"/>
                    <a:pt x="20183" y="426631"/>
                  </a:cubicBezTo>
                  <a:cubicBezTo>
                    <a:pt x="7260" y="413708"/>
                    <a:pt x="0" y="396181"/>
                    <a:pt x="0" y="377906"/>
                  </a:cubicBezTo>
                  <a:lnTo>
                    <a:pt x="0" y="68908"/>
                  </a:lnTo>
                  <a:cubicBezTo>
                    <a:pt x="0" y="50633"/>
                    <a:pt x="7260" y="33106"/>
                    <a:pt x="20183" y="20183"/>
                  </a:cubicBezTo>
                  <a:cubicBezTo>
                    <a:pt x="33106" y="7260"/>
                    <a:pt x="50633" y="0"/>
                    <a:pt x="68908" y="0"/>
                  </a:cubicBezTo>
                  <a:lnTo>
                    <a:pt x="743892" y="0"/>
                  </a:lnTo>
                  <a:cubicBezTo>
                    <a:pt x="762167" y="0"/>
                    <a:pt x="779694" y="7260"/>
                    <a:pt x="792617" y="20183"/>
                  </a:cubicBezTo>
                  <a:cubicBezTo>
                    <a:pt x="805540" y="33106"/>
                    <a:pt x="812800" y="50633"/>
                    <a:pt x="812800" y="68908"/>
                  </a:cubicBezTo>
                  <a:close/>
                </a:path>
              </a:pathLst>
            </a:custGeom>
            <a:solidFill>
              <a:srgbClr val="EBEBDD"/>
            </a:solidFill>
            <a:ln w="57150" cap="rnd">
              <a:solidFill>
                <a:srgbClr val="514338"/>
              </a:solidFill>
              <a:prstDash val="solid"/>
              <a:round/>
            </a:ln>
          </p:spPr>
        </p:sp>
        <p:sp>
          <p:nvSpPr>
            <p:cNvPr name="TextBox 22" id="22"/>
            <p:cNvSpPr txBox="true"/>
            <p:nvPr/>
          </p:nvSpPr>
          <p:spPr>
            <a:xfrm>
              <a:off x="0" y="-66675"/>
              <a:ext cx="812800"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Application</a:t>
              </a:r>
            </a:p>
          </p:txBody>
        </p:sp>
      </p:grpSp>
      <p:sp>
        <p:nvSpPr>
          <p:cNvPr name="AutoShape 23" id="23"/>
          <p:cNvSpPr/>
          <p:nvPr/>
        </p:nvSpPr>
        <p:spPr>
          <a:xfrm>
            <a:off x="11037323" y="8327666"/>
            <a:ext cx="2011852" cy="0"/>
          </a:xfrm>
          <a:prstGeom prst="line">
            <a:avLst/>
          </a:prstGeom>
          <a:ln cap="flat" w="66675">
            <a:solidFill>
              <a:srgbClr val="000000"/>
            </a:solidFill>
            <a:prstDash val="solid"/>
            <a:headEnd type="arrow" len="sm" w="med"/>
            <a:tailEnd type="none" len="sm" w="sm"/>
          </a:ln>
        </p:spPr>
      </p:sp>
      <p:grpSp>
        <p:nvGrpSpPr>
          <p:cNvPr name="Group 24" id="24"/>
          <p:cNvGrpSpPr/>
          <p:nvPr/>
        </p:nvGrpSpPr>
        <p:grpSpPr>
          <a:xfrm rot="0">
            <a:off x="7458734" y="7401239"/>
            <a:ext cx="3370531" cy="1852855"/>
            <a:chOff x="0" y="0"/>
            <a:chExt cx="812800" cy="446814"/>
          </a:xfrm>
        </p:grpSpPr>
        <p:sp>
          <p:nvSpPr>
            <p:cNvPr name="Freeform 25" id="25"/>
            <p:cNvSpPr/>
            <p:nvPr/>
          </p:nvSpPr>
          <p:spPr>
            <a:xfrm flipH="false" flipV="false" rot="0">
              <a:off x="0" y="0"/>
              <a:ext cx="812800" cy="446814"/>
            </a:xfrm>
            <a:custGeom>
              <a:avLst/>
              <a:gdLst/>
              <a:ahLst/>
              <a:cxnLst/>
              <a:rect r="r" b="b" t="t" l="l"/>
              <a:pathLst>
                <a:path h="446814" w="812800">
                  <a:moveTo>
                    <a:pt x="812800" y="68908"/>
                  </a:moveTo>
                  <a:lnTo>
                    <a:pt x="812800" y="377906"/>
                  </a:lnTo>
                  <a:cubicBezTo>
                    <a:pt x="812800" y="415963"/>
                    <a:pt x="781949" y="446814"/>
                    <a:pt x="743892" y="446814"/>
                  </a:cubicBezTo>
                  <a:lnTo>
                    <a:pt x="68908" y="446814"/>
                  </a:lnTo>
                  <a:cubicBezTo>
                    <a:pt x="50633" y="446814"/>
                    <a:pt x="33106" y="439554"/>
                    <a:pt x="20183" y="426631"/>
                  </a:cubicBezTo>
                  <a:cubicBezTo>
                    <a:pt x="7260" y="413708"/>
                    <a:pt x="0" y="396181"/>
                    <a:pt x="0" y="377906"/>
                  </a:cubicBezTo>
                  <a:lnTo>
                    <a:pt x="0" y="68908"/>
                  </a:lnTo>
                  <a:cubicBezTo>
                    <a:pt x="0" y="50633"/>
                    <a:pt x="7260" y="33106"/>
                    <a:pt x="20183" y="20183"/>
                  </a:cubicBezTo>
                  <a:cubicBezTo>
                    <a:pt x="33106" y="7260"/>
                    <a:pt x="50633" y="0"/>
                    <a:pt x="68908" y="0"/>
                  </a:cubicBezTo>
                  <a:lnTo>
                    <a:pt x="743892" y="0"/>
                  </a:lnTo>
                  <a:cubicBezTo>
                    <a:pt x="762167" y="0"/>
                    <a:pt x="779694" y="7260"/>
                    <a:pt x="792617" y="20183"/>
                  </a:cubicBezTo>
                  <a:cubicBezTo>
                    <a:pt x="805540" y="33106"/>
                    <a:pt x="812800" y="50633"/>
                    <a:pt x="812800" y="68908"/>
                  </a:cubicBezTo>
                  <a:close/>
                </a:path>
              </a:pathLst>
            </a:custGeom>
            <a:solidFill>
              <a:srgbClr val="EBEBDD"/>
            </a:solidFill>
            <a:ln w="57150" cap="rnd">
              <a:solidFill>
                <a:srgbClr val="514338"/>
              </a:solidFill>
              <a:prstDash val="solid"/>
              <a:round/>
            </a:ln>
          </p:spPr>
        </p:sp>
        <p:sp>
          <p:nvSpPr>
            <p:cNvPr name="TextBox 26" id="26"/>
            <p:cNvSpPr txBox="true"/>
            <p:nvPr/>
          </p:nvSpPr>
          <p:spPr>
            <a:xfrm>
              <a:off x="0" y="-66675"/>
              <a:ext cx="812800"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Model Testing &amp; Training</a:t>
              </a:r>
            </a:p>
          </p:txBody>
        </p:sp>
      </p:grpSp>
      <p:grpSp>
        <p:nvGrpSpPr>
          <p:cNvPr name="Group 27" id="27"/>
          <p:cNvGrpSpPr/>
          <p:nvPr/>
        </p:nvGrpSpPr>
        <p:grpSpPr>
          <a:xfrm rot="0">
            <a:off x="13257232" y="7401239"/>
            <a:ext cx="3370531" cy="1852855"/>
            <a:chOff x="0" y="0"/>
            <a:chExt cx="812800" cy="446814"/>
          </a:xfrm>
        </p:grpSpPr>
        <p:sp>
          <p:nvSpPr>
            <p:cNvPr name="Freeform 28" id="28"/>
            <p:cNvSpPr/>
            <p:nvPr/>
          </p:nvSpPr>
          <p:spPr>
            <a:xfrm flipH="false" flipV="false" rot="0">
              <a:off x="0" y="0"/>
              <a:ext cx="812800" cy="446814"/>
            </a:xfrm>
            <a:custGeom>
              <a:avLst/>
              <a:gdLst/>
              <a:ahLst/>
              <a:cxnLst/>
              <a:rect r="r" b="b" t="t" l="l"/>
              <a:pathLst>
                <a:path h="446814" w="812800">
                  <a:moveTo>
                    <a:pt x="812800" y="68908"/>
                  </a:moveTo>
                  <a:lnTo>
                    <a:pt x="812800" y="377906"/>
                  </a:lnTo>
                  <a:cubicBezTo>
                    <a:pt x="812800" y="415963"/>
                    <a:pt x="781949" y="446814"/>
                    <a:pt x="743892" y="446814"/>
                  </a:cubicBezTo>
                  <a:lnTo>
                    <a:pt x="68908" y="446814"/>
                  </a:lnTo>
                  <a:cubicBezTo>
                    <a:pt x="50633" y="446814"/>
                    <a:pt x="33106" y="439554"/>
                    <a:pt x="20183" y="426631"/>
                  </a:cubicBezTo>
                  <a:cubicBezTo>
                    <a:pt x="7260" y="413708"/>
                    <a:pt x="0" y="396181"/>
                    <a:pt x="0" y="377906"/>
                  </a:cubicBezTo>
                  <a:lnTo>
                    <a:pt x="0" y="68908"/>
                  </a:lnTo>
                  <a:cubicBezTo>
                    <a:pt x="0" y="50633"/>
                    <a:pt x="7260" y="33106"/>
                    <a:pt x="20183" y="20183"/>
                  </a:cubicBezTo>
                  <a:cubicBezTo>
                    <a:pt x="33106" y="7260"/>
                    <a:pt x="50633" y="0"/>
                    <a:pt x="68908" y="0"/>
                  </a:cubicBezTo>
                  <a:lnTo>
                    <a:pt x="743892" y="0"/>
                  </a:lnTo>
                  <a:cubicBezTo>
                    <a:pt x="762167" y="0"/>
                    <a:pt x="779694" y="7260"/>
                    <a:pt x="792617" y="20183"/>
                  </a:cubicBezTo>
                  <a:cubicBezTo>
                    <a:pt x="805540" y="33106"/>
                    <a:pt x="812800" y="50633"/>
                    <a:pt x="812800" y="68908"/>
                  </a:cubicBezTo>
                  <a:close/>
                </a:path>
              </a:pathLst>
            </a:custGeom>
            <a:solidFill>
              <a:srgbClr val="EBEBDD"/>
            </a:solidFill>
            <a:ln w="57150" cap="rnd">
              <a:solidFill>
                <a:srgbClr val="514338"/>
              </a:solidFill>
              <a:prstDash val="solid"/>
              <a:round/>
            </a:ln>
          </p:spPr>
        </p:sp>
        <p:sp>
          <p:nvSpPr>
            <p:cNvPr name="TextBox 29" id="29"/>
            <p:cNvSpPr txBox="true"/>
            <p:nvPr/>
          </p:nvSpPr>
          <p:spPr>
            <a:xfrm>
              <a:off x="0" y="-66675"/>
              <a:ext cx="812800"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Dataset Making</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0">
            <a:off x="0" y="-190421"/>
            <a:ext cx="9144000" cy="10974762"/>
            <a:chOff x="0" y="0"/>
            <a:chExt cx="2408296" cy="2890472"/>
          </a:xfrm>
        </p:grpSpPr>
        <p:sp>
          <p:nvSpPr>
            <p:cNvPr name="Freeform 3" id="3"/>
            <p:cNvSpPr/>
            <p:nvPr/>
          </p:nvSpPr>
          <p:spPr>
            <a:xfrm flipH="false" flipV="false" rot="0">
              <a:off x="0" y="0"/>
              <a:ext cx="2408296" cy="2890472"/>
            </a:xfrm>
            <a:custGeom>
              <a:avLst/>
              <a:gdLst/>
              <a:ahLst/>
              <a:cxnLst/>
              <a:rect r="r" b="b" t="t" l="l"/>
              <a:pathLst>
                <a:path h="2890472" w="2408296">
                  <a:moveTo>
                    <a:pt x="0" y="0"/>
                  </a:moveTo>
                  <a:lnTo>
                    <a:pt x="2408296" y="0"/>
                  </a:lnTo>
                  <a:lnTo>
                    <a:pt x="2408296" y="2890472"/>
                  </a:lnTo>
                  <a:lnTo>
                    <a:pt x="0" y="2890472"/>
                  </a:lnTo>
                  <a:close/>
                </a:path>
              </a:pathLst>
            </a:custGeom>
            <a:solidFill>
              <a:srgbClr val="EBEBDD"/>
            </a:solidFill>
          </p:spPr>
        </p:sp>
        <p:sp>
          <p:nvSpPr>
            <p:cNvPr name="TextBox 4" id="4"/>
            <p:cNvSpPr txBox="true"/>
            <p:nvPr/>
          </p:nvSpPr>
          <p:spPr>
            <a:xfrm>
              <a:off x="0" y="-38100"/>
              <a:ext cx="2408296" cy="292857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7600950" y="-8344632"/>
            <a:ext cx="3086100" cy="18288000"/>
            <a:chOff x="0" y="0"/>
            <a:chExt cx="812800" cy="4816593"/>
          </a:xfrm>
        </p:grpSpPr>
        <p:sp>
          <p:nvSpPr>
            <p:cNvPr name="Freeform 6" id="6"/>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7" id="7"/>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graphicFrame>
        <p:nvGraphicFramePr>
          <p:cNvPr name="Table 8" id="8"/>
          <p:cNvGraphicFramePr>
            <a:graphicFrameLocks noGrp="true"/>
          </p:cNvGraphicFramePr>
          <p:nvPr/>
        </p:nvGraphicFramePr>
        <p:xfrm>
          <a:off x="190123" y="4390825"/>
          <a:ext cx="8773279" cy="4276725"/>
        </p:xfrm>
        <a:graphic>
          <a:graphicData uri="http://schemas.openxmlformats.org/drawingml/2006/table">
            <a:tbl>
              <a:tblPr/>
              <a:tblGrid>
                <a:gridCol w="8773279"/>
              </a:tblGrid>
              <a:tr h="1069181">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Removing Duplicates Rows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514338"/>
                      </a:solidFill>
                      <a:prstDash val="solid"/>
                      <a:round/>
                      <a:headEnd type="none" w="med" len="med"/>
                      <a:tailEnd type="none" w="med" len="med"/>
                    </a:lnB>
                  </a:tcPr>
                </a:tc>
              </a:tr>
              <a:tr h="1069181">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Removing Features with High Correlation</a:t>
                      </a:r>
                      <a:endParaRPr lang="en-US" sz="1100"/>
                    </a:p>
                  </a:txBody>
                  <a:tcPr marL="190500" marR="190500" marT="190500" marB="190500" anchor="ctr">
                    <a:lnL cmpd="sng" algn="ctr" cap="flat" w="9525">
                      <a:solidFill>
                        <a:srgbClr val="514338"/>
                      </a:solidFill>
                      <a:prstDash val="solid"/>
                      <a:round/>
                      <a:headEnd type="none" w="med" len="med"/>
                      <a:tailEnd type="none" w="med" len="med"/>
                    </a:lnL>
                    <a:lnR cmpd="sng" algn="ctr" cap="flat" w="9525">
                      <a:solidFill>
                        <a:srgbClr val="514338"/>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FBFBF8"/>
                    </a:solidFill>
                  </a:tcPr>
                </a:tc>
              </a:tr>
              <a:tr h="1069181">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Removing Anomalies (IsolationForest)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tcPr>
                </a:tc>
              </a:tr>
              <a:tr h="1069181">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Removing Low Variance Features</a:t>
                      </a:r>
                      <a:endParaRPr lang="en-US" sz="1100"/>
                    </a:p>
                  </a:txBody>
                  <a:tcPr marL="190500" marR="190500" marT="190500" marB="190500" anchor="ctr">
                    <a:lnL cmpd="sng" algn="ctr" cap="flat" w="9525">
                      <a:solidFill>
                        <a:srgbClr val="514338"/>
                      </a:solidFill>
                      <a:prstDash val="solid"/>
                      <a:round/>
                      <a:headEnd type="none" w="med" len="med"/>
                      <a:tailEnd type="none" w="med" len="med"/>
                    </a:lnL>
                    <a:lnR cmpd="sng" algn="ctr" cap="flat" w="9525">
                      <a:solidFill>
                        <a:srgbClr val="514338"/>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FBFBF8"/>
                    </a:solidFill>
                  </a:tcPr>
                </a:tc>
              </a:tr>
            </a:tbl>
          </a:graphicData>
        </a:graphic>
      </p:graphicFrame>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name="TextBox 10" id="10"/>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Data Pretreatment</a:t>
            </a:r>
          </a:p>
        </p:txBody>
      </p:sp>
      <p:sp>
        <p:nvSpPr>
          <p:cNvPr name="TextBox 11" id="11"/>
          <p:cNvSpPr txBox="true"/>
          <p:nvPr/>
        </p:nvSpPr>
        <p:spPr>
          <a:xfrm rot="0">
            <a:off x="2445127" y="2374499"/>
            <a:ext cx="4253746" cy="854075"/>
          </a:xfrm>
          <a:prstGeom prst="rect">
            <a:avLst/>
          </a:prstGeom>
        </p:spPr>
        <p:txBody>
          <a:bodyPr anchor="t" rtlCol="false" tIns="0" lIns="0" bIns="0" rIns="0">
            <a:spAutoFit/>
          </a:bodyPr>
          <a:lstStyle/>
          <a:p>
            <a:pPr algn="ctr">
              <a:lnSpc>
                <a:spcPts val="6999"/>
              </a:lnSpc>
              <a:spcBef>
                <a:spcPct val="0"/>
              </a:spcBef>
            </a:pPr>
            <a:r>
              <a:rPr lang="en-US" b="true" sz="4999">
                <a:solidFill>
                  <a:srgbClr val="514338"/>
                </a:solidFill>
                <a:latin typeface="Bricolage Grotesque Bold"/>
                <a:ea typeface="Bricolage Grotesque Bold"/>
                <a:cs typeface="Bricolage Grotesque Bold"/>
                <a:sym typeface="Bricolage Grotesque Bold"/>
              </a:rPr>
              <a:t>Data Cleaning</a:t>
            </a:r>
          </a:p>
        </p:txBody>
      </p:sp>
      <p:sp>
        <p:nvSpPr>
          <p:cNvPr name="TextBox 12" id="12"/>
          <p:cNvSpPr txBox="true"/>
          <p:nvPr/>
        </p:nvSpPr>
        <p:spPr>
          <a:xfrm rot="0">
            <a:off x="12178912" y="2374499"/>
            <a:ext cx="3408640" cy="854075"/>
          </a:xfrm>
          <a:prstGeom prst="rect">
            <a:avLst/>
          </a:prstGeom>
        </p:spPr>
        <p:txBody>
          <a:bodyPr anchor="t" rtlCol="false" tIns="0" lIns="0" bIns="0" rIns="0">
            <a:spAutoFit/>
          </a:bodyPr>
          <a:lstStyle/>
          <a:p>
            <a:pPr algn="ctr">
              <a:lnSpc>
                <a:spcPts val="6999"/>
              </a:lnSpc>
              <a:spcBef>
                <a:spcPct val="0"/>
              </a:spcBef>
            </a:pPr>
            <a:r>
              <a:rPr lang="en-US" b="true" sz="4999">
                <a:solidFill>
                  <a:srgbClr val="514338"/>
                </a:solidFill>
                <a:latin typeface="Bricolage Grotesque Bold"/>
                <a:ea typeface="Bricolage Grotesque Bold"/>
                <a:cs typeface="Bricolage Grotesque Bold"/>
                <a:sym typeface="Bricolage Grotesque Bold"/>
              </a:rPr>
              <a:t>Data Filling</a:t>
            </a:r>
          </a:p>
        </p:txBody>
      </p:sp>
      <p:graphicFrame>
        <p:nvGraphicFramePr>
          <p:cNvPr name="Table 13" id="13"/>
          <p:cNvGraphicFramePr>
            <a:graphicFrameLocks noGrp="true"/>
          </p:cNvGraphicFramePr>
          <p:nvPr/>
        </p:nvGraphicFramePr>
        <p:xfrm>
          <a:off x="9414351" y="3590725"/>
          <a:ext cx="8773279" cy="5343525"/>
        </p:xfrm>
        <a:graphic>
          <a:graphicData uri="http://schemas.openxmlformats.org/drawingml/2006/table">
            <a:tbl>
              <a:tblPr/>
              <a:tblGrid>
                <a:gridCol w="4386640"/>
                <a:gridCol w="4386640"/>
              </a:tblGrid>
              <a:tr h="1603058">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Removing Missing Data (with Median)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EBEBDD"/>
                    </a:solidFill>
                  </a:tcPr>
                </a:tc>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Mapping Categories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EBEBDD"/>
                    </a:solidFill>
                  </a:tcPr>
                </a:tc>
              </a:tr>
              <a:tr h="1603058">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Removing Invalid Data</a:t>
                      </a:r>
                      <a:endParaRPr lang="en-US" sz="1100"/>
                    </a:p>
                  </a:txBody>
                  <a:tcPr marL="190500" marR="190500" marT="190500" marB="190500" anchor="ctr">
                    <a:lnL cmpd="sng" algn="ctr" cap="flat" w="9525">
                      <a:solidFill>
                        <a:srgbClr val="514338"/>
                      </a:solidFill>
                      <a:prstDash val="solid"/>
                      <a:round/>
                      <a:headEnd type="none" w="med" len="med"/>
                      <a:tailEnd type="none" w="med" len="med"/>
                    </a:lnL>
                    <a:lnR cmpd="sng" algn="ctr" cap="flat" w="9525">
                      <a:solidFill>
                        <a:srgbClr val="514338"/>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FBFBF8"/>
                    </a:solidFill>
                  </a:tcPr>
                </a:tc>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Normalising Cyclical</a:t>
                      </a:r>
                      <a:endParaRPr lang="en-US" sz="1100"/>
                    </a:p>
                  </a:txBody>
                  <a:tcPr marL="190500" marR="190500" marT="190500" marB="190500" anchor="ctr">
                    <a:lnL cmpd="sng" algn="ctr" cap="flat" w="9525">
                      <a:solidFill>
                        <a:srgbClr val="514338"/>
                      </a:solidFill>
                      <a:prstDash val="solid"/>
                      <a:round/>
                      <a:headEnd type="none" w="med" len="med"/>
                      <a:tailEnd type="none" w="med" len="med"/>
                    </a:lnL>
                    <a:lnR cmpd="sng" algn="ctr" cap="flat" w="9525">
                      <a:solidFill>
                        <a:srgbClr val="514338"/>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FBFBF8"/>
                    </a:solidFill>
                  </a:tcPr>
                </a:tc>
              </a:tr>
              <a:tr h="1068705">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Normalising Dates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EBEBDD"/>
                    </a:solidFill>
                  </a:tcPr>
                </a:tc>
                <a:tc>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Skewing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EBEBDD"/>
                    </a:solidFill>
                  </a:tcPr>
                </a:tc>
              </a:tr>
              <a:tr h="1068705">
                <a:tc gridSpan="2">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Handling IP (Full Parse</a:t>
                      </a:r>
                      <a:endParaRPr lang="en-US" sz="1100"/>
                    </a:p>
                  </a:txBody>
                  <a:tcPr marL="190500" marR="190500" marT="190500" marB="190500" anchor="ctr">
                    <a:lnL cmpd="sng" algn="ctr" cap="flat" w="9525">
                      <a:solidFill>
                        <a:srgbClr val="514338"/>
                      </a:solidFill>
                      <a:prstDash val="solid"/>
                      <a:round/>
                      <a:headEnd type="none" w="med" len="med"/>
                      <a:tailEnd type="none" w="med" len="med"/>
                    </a:lnL>
                    <a:lnR cmpd="sng" algn="ctr" cap="flat" w="9525">
                      <a:solidFill>
                        <a:srgbClr val="514338"/>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FBFBF8"/>
                    </a:solidFill>
                  </a:tcPr>
                </a:tc>
                <a:tc hMerge="true">
                  <a:txBody>
                    <a:bodyPr anchor="t" rtlCol="false"/>
                    <a:lstStyle/>
                    <a:p>
                      <a:pPr algn="ctr">
                        <a:lnSpc>
                          <a:spcPts val="4200"/>
                        </a:lnSpc>
                        <a:defRPr/>
                      </a:pPr>
                      <a:r>
                        <a:rPr lang="en-US" sz="3000" b="true">
                          <a:solidFill>
                            <a:srgbClr val="000000"/>
                          </a:solidFill>
                          <a:latin typeface="Bricolage Grotesque Bold"/>
                          <a:ea typeface="Bricolage Grotesque Bold"/>
                          <a:cs typeface="Bricolage Grotesque Bold"/>
                          <a:sym typeface="Bricolage Grotesque Bold"/>
                        </a:rPr>
                        <a:t>Handling IP (Full Parse</a:t>
                      </a:r>
                      <a:endParaRPr lang="en-US" sz="1100"/>
                    </a:p>
                  </a:txBody>
                  <a:tcPr marL="190500" marR="190500" marT="190500" marB="190500" anchor="ctr">
                    <a:lnL cmpd="sng" algn="ctr" cap="flat" w="9525">
                      <a:solidFill>
                        <a:srgbClr val="514338"/>
                      </a:solidFill>
                      <a:prstDash val="solid"/>
                      <a:round/>
                      <a:headEnd type="none" w="med" len="med"/>
                      <a:tailEnd type="none" w="med" len="med"/>
                    </a:lnL>
                    <a:lnR cmpd="sng" algn="ctr" cap="flat" w="9525">
                      <a:solidFill>
                        <a:srgbClr val="514338"/>
                      </a:solidFill>
                      <a:prstDash val="solid"/>
                      <a:round/>
                      <a:headEnd type="none" w="med" len="med"/>
                      <a:tailEnd type="none" w="med" len="med"/>
                    </a:lnR>
                    <a:lnT cmpd="sng" algn="ctr" cap="flat" w="9525">
                      <a:solidFill>
                        <a:srgbClr val="514338"/>
                      </a:solidFill>
                      <a:prstDash val="solid"/>
                      <a:round/>
                      <a:headEnd type="none" w="med" len="med"/>
                      <a:tailEnd type="none" w="med" len="med"/>
                    </a:lnT>
                    <a:lnB cmpd="sng" algn="ctr" cap="flat" w="9525">
                      <a:solidFill>
                        <a:srgbClr val="514338"/>
                      </a:solidFill>
                      <a:prstDash val="solid"/>
                      <a:round/>
                      <a:headEnd type="none" w="med" len="med"/>
                      <a:tailEnd type="none" w="med" len="med"/>
                    </a:lnB>
                    <a:solidFill>
                      <a:srgbClr val="FBFBF8"/>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graphicFrame>
        <p:nvGraphicFramePr>
          <p:cNvPr name="Table 5" id="5"/>
          <p:cNvGraphicFramePr>
            <a:graphicFrameLocks noGrp="true"/>
          </p:cNvGraphicFramePr>
          <p:nvPr/>
        </p:nvGraphicFramePr>
        <p:xfrm>
          <a:off x="1208878" y="3072320"/>
          <a:ext cx="16050422" cy="6166327"/>
        </p:xfrm>
        <a:graphic>
          <a:graphicData uri="http://schemas.openxmlformats.org/drawingml/2006/table">
            <a:tbl>
              <a:tblPr/>
              <a:tblGrid>
                <a:gridCol w="5350141"/>
                <a:gridCol w="5350141"/>
                <a:gridCol w="5350141"/>
              </a:tblGrid>
              <a:tr h="1293869">
                <a:tc gridSpan="3">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XGBoost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c hMerge="true">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XGBoost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c hMerge="true">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XGBoost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r>
              <a:tr h="1341791">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Results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530667">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Recency</a:t>
                      </a:r>
                      <a:endParaRPr lang="en-US" sz="1100"/>
                    </a:p>
                    <a:p>
                      <a:pPr algn="ctr">
                        <a:lnSpc>
                          <a:spcPts val="3919"/>
                        </a:lnSpc>
                      </a:pPr>
                      <a:r>
                        <a:rPr lang="en-US" sz="2799">
                          <a:solidFill>
                            <a:srgbClr val="000000"/>
                          </a:solidFill>
                          <a:latin typeface="Bricolage Grotesque"/>
                          <a:ea typeface="Bricolage Grotesque"/>
                          <a:cs typeface="Bricolage Grotesque"/>
                          <a:sym typeface="Bricolage Grotesque"/>
                        </a:rPr>
                        <a:t>Frequency</a:t>
                      </a:r>
                    </a:p>
                    <a:p>
                      <a:pPr algn="ctr">
                        <a:lnSpc>
                          <a:spcPts val="3919"/>
                        </a:lnSpc>
                      </a:pPr>
                      <a:r>
                        <a:rPr lang="en-US" sz="2799">
                          <a:solidFill>
                            <a:srgbClr val="000000"/>
                          </a:solidFill>
                          <a:latin typeface="Bricolage Grotesque"/>
                          <a:ea typeface="Bricolage Grotesque"/>
                          <a:cs typeface="Bricolage Grotesque"/>
                          <a:sym typeface="Bricolage Grotesque"/>
                        </a:rPr>
                        <a:t>Tenure</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4 levels of Churn Risk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Accuracy 44% (bad at predicting high risk)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7" id="7"/>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Churn Model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Churn Model</a:t>
            </a:r>
          </a:p>
        </p:txBody>
      </p:sp>
      <p:grpSp>
        <p:nvGrpSpPr>
          <p:cNvPr name="Group 7" id="7"/>
          <p:cNvGrpSpPr/>
          <p:nvPr/>
        </p:nvGrpSpPr>
        <p:grpSpPr>
          <a:xfrm rot="0">
            <a:off x="5367497" y="2940803"/>
            <a:ext cx="7553006" cy="6317497"/>
            <a:chOff x="0" y="0"/>
            <a:chExt cx="10070675" cy="8423329"/>
          </a:xfrm>
        </p:grpSpPr>
        <p:sp>
          <p:nvSpPr>
            <p:cNvPr name="Freeform 8" id="8"/>
            <p:cNvSpPr/>
            <p:nvPr/>
          </p:nvSpPr>
          <p:spPr>
            <a:xfrm flipH="false" flipV="false" rot="0">
              <a:off x="0" y="0"/>
              <a:ext cx="10070675" cy="7225709"/>
            </a:xfrm>
            <a:custGeom>
              <a:avLst/>
              <a:gdLst/>
              <a:ahLst/>
              <a:cxnLst/>
              <a:rect r="r" b="b" t="t" l="l"/>
              <a:pathLst>
                <a:path h="7225709" w="10070675">
                  <a:moveTo>
                    <a:pt x="0" y="0"/>
                  </a:moveTo>
                  <a:lnTo>
                    <a:pt x="10070675" y="0"/>
                  </a:lnTo>
                  <a:lnTo>
                    <a:pt x="10070675" y="7225709"/>
                  </a:lnTo>
                  <a:lnTo>
                    <a:pt x="0" y="7225709"/>
                  </a:lnTo>
                  <a:lnTo>
                    <a:pt x="0" y="0"/>
                  </a:lnTo>
                  <a:close/>
                </a:path>
              </a:pathLst>
            </a:custGeom>
            <a:blipFill>
              <a:blip r:embed="rId2"/>
              <a:stretch>
                <a:fillRect l="0" t="0" r="0" b="0"/>
              </a:stretch>
            </a:blipFill>
          </p:spPr>
        </p:sp>
        <p:sp>
          <p:nvSpPr>
            <p:cNvPr name="TextBox 9" id="9"/>
            <p:cNvSpPr txBox="true"/>
            <p:nvPr/>
          </p:nvSpPr>
          <p:spPr>
            <a:xfrm rot="0">
              <a:off x="3282261" y="7854158"/>
              <a:ext cx="3506153" cy="569171"/>
            </a:xfrm>
            <a:prstGeom prst="rect">
              <a:avLst/>
            </a:prstGeom>
          </p:spPr>
          <p:txBody>
            <a:bodyPr anchor="t" rtlCol="false" tIns="0" lIns="0" bIns="0" rIns="0">
              <a:spAutoFit/>
            </a:bodyPr>
            <a:lstStyle/>
            <a:p>
              <a:pPr algn="just">
                <a:lnSpc>
                  <a:spcPts val="3640"/>
                </a:lnSpc>
                <a:spcBef>
                  <a:spcPct val="0"/>
                </a:spcBef>
              </a:pPr>
              <a:r>
                <a:rPr lang="en-US" sz="2600">
                  <a:solidFill>
                    <a:srgbClr val="000000"/>
                  </a:solidFill>
                  <a:latin typeface="Bricolage Grotesque"/>
                  <a:ea typeface="Bricolage Grotesque"/>
                  <a:cs typeface="Bricolage Grotesque"/>
                  <a:sym typeface="Bricolage Grotesque"/>
                </a:rPr>
                <a:t>Confusion Matrix</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Behaviour Classifier</a:t>
            </a:r>
          </a:p>
        </p:txBody>
      </p:sp>
      <p:graphicFrame>
        <p:nvGraphicFramePr>
          <p:cNvPr name="Table 7" id="7"/>
          <p:cNvGraphicFramePr>
            <a:graphicFrameLocks noGrp="true"/>
          </p:cNvGraphicFramePr>
          <p:nvPr/>
        </p:nvGraphicFramePr>
        <p:xfrm>
          <a:off x="1208878" y="3072320"/>
          <a:ext cx="16050422" cy="6181725"/>
        </p:xfrm>
        <a:graphic>
          <a:graphicData uri="http://schemas.openxmlformats.org/drawingml/2006/table">
            <a:tbl>
              <a:tblPr/>
              <a:tblGrid>
                <a:gridCol w="8025211"/>
                <a:gridCol w="8025211"/>
              </a:tblGrid>
              <a:tr h="1293849">
                <a:tc gridSpan="2">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K-Means (K=4)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c hMerge="true">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K-Means (K=4)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r>
              <a:tr h="1341770">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546106">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Recency</a:t>
                      </a:r>
                      <a:endParaRPr lang="en-US" sz="1100"/>
                    </a:p>
                    <a:p>
                      <a:pPr algn="ctr">
                        <a:lnSpc>
                          <a:spcPts val="3919"/>
                        </a:lnSpc>
                      </a:pPr>
                      <a:r>
                        <a:rPr lang="en-US" sz="2799">
                          <a:solidFill>
                            <a:srgbClr val="000000"/>
                          </a:solidFill>
                          <a:latin typeface="Bricolage Grotesque"/>
                          <a:ea typeface="Bricolage Grotesque"/>
                          <a:cs typeface="Bricolage Grotesque"/>
                          <a:sym typeface="Bricolage Grotesque"/>
                        </a:rPr>
                        <a:t>Frequency</a:t>
                      </a:r>
                    </a:p>
                    <a:p>
                      <a:pPr algn="ctr">
                        <a:lnSpc>
                          <a:spcPts val="3919"/>
                        </a:lnSpc>
                      </a:pPr>
                      <a:r>
                        <a:rPr lang="en-US" sz="2799">
                          <a:solidFill>
                            <a:srgbClr val="000000"/>
                          </a:solidFill>
                          <a:latin typeface="Bricolage Grotesque"/>
                          <a:ea typeface="Bricolage Grotesque"/>
                          <a:cs typeface="Bricolage Grotesque"/>
                          <a:sym typeface="Bricolage Grotesque"/>
                        </a:rPr>
                        <a:t>Tenure</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4 levels of Behviours:</a:t>
                      </a:r>
                      <a:endParaRPr lang="en-US" sz="1100"/>
                    </a:p>
                    <a:p>
                      <a:pPr algn="l" marL="604519" indent="-302260" lvl="1">
                        <a:lnSpc>
                          <a:spcPts val="3919"/>
                        </a:lnSpc>
                        <a:buAutoNum type="arabicPeriod" startAt="1"/>
                      </a:pPr>
                      <a:r>
                        <a:rPr lang="en-US" sz="2799">
                          <a:solidFill>
                            <a:srgbClr val="000000"/>
                          </a:solidFill>
                          <a:latin typeface="Bricolage Grotesque"/>
                          <a:ea typeface="Bricolage Grotesque"/>
                          <a:cs typeface="Bricolage Grotesque"/>
                          <a:sym typeface="Bricolage Grotesque"/>
                        </a:rPr>
                        <a:t>Loyal Active (37.2%)</a:t>
                      </a:r>
                    </a:p>
                    <a:p>
                      <a:pPr algn="l" marL="604519" indent="-302260" lvl="1">
                        <a:lnSpc>
                          <a:spcPts val="3919"/>
                        </a:lnSpc>
                        <a:buAutoNum type="arabicPeriod" startAt="1"/>
                      </a:pPr>
                      <a:r>
                        <a:rPr lang="en-US" sz="2799">
                          <a:solidFill>
                            <a:srgbClr val="000000"/>
                          </a:solidFill>
                          <a:latin typeface="Bricolage Grotesque"/>
                          <a:ea typeface="Bricolage Grotesque"/>
                          <a:cs typeface="Bricolage Grotesque"/>
                          <a:sym typeface="Bricolage Grotesque"/>
                        </a:rPr>
                        <a:t>Recent Explorers (27.7%)</a:t>
                      </a:r>
                    </a:p>
                    <a:p>
                      <a:pPr algn="l" marL="604519" indent="-302260" lvl="1">
                        <a:lnSpc>
                          <a:spcPts val="3919"/>
                        </a:lnSpc>
                        <a:buAutoNum type="arabicPeriod" startAt="1"/>
                      </a:pPr>
                      <a:r>
                        <a:rPr lang="en-US" sz="2799">
                          <a:solidFill>
                            <a:srgbClr val="000000"/>
                          </a:solidFill>
                          <a:latin typeface="Bricolage Grotesque"/>
                          <a:ea typeface="Bricolage Grotesque"/>
                          <a:cs typeface="Bricolage Grotesque"/>
                          <a:sym typeface="Bricolage Grotesque"/>
                        </a:rPr>
                        <a:t>At-Risk (18.3%)</a:t>
                      </a:r>
                    </a:p>
                    <a:p>
                      <a:pPr algn="l" marL="604519" indent="-302260" lvl="1">
                        <a:lnSpc>
                          <a:spcPts val="3919"/>
                        </a:lnSpc>
                        <a:buAutoNum type="arabicPeriod" startAt="1"/>
                      </a:pPr>
                      <a:r>
                        <a:rPr lang="en-US" sz="2799">
                          <a:solidFill>
                            <a:srgbClr val="000000"/>
                          </a:solidFill>
                          <a:latin typeface="Bricolage Grotesque"/>
                          <a:ea typeface="Bricolage Grotesque"/>
                          <a:cs typeface="Bricolage Grotesque"/>
                          <a:sym typeface="Bricolage Grotesque"/>
                        </a:rPr>
                        <a:t>High Spenders (16.8%)</a:t>
                      </a:r>
                    </a:p>
                    <a:p>
                      <a:pPr algn="ctr">
                        <a:lnSpc>
                          <a:spcPts val="391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Behaviour Classifier</a:t>
            </a:r>
          </a:p>
        </p:txBody>
      </p:sp>
      <p:grpSp>
        <p:nvGrpSpPr>
          <p:cNvPr name="Group 7" id="7"/>
          <p:cNvGrpSpPr/>
          <p:nvPr/>
        </p:nvGrpSpPr>
        <p:grpSpPr>
          <a:xfrm rot="0">
            <a:off x="1363085" y="3694303"/>
            <a:ext cx="15561829" cy="4803394"/>
            <a:chOff x="0" y="0"/>
            <a:chExt cx="20749106" cy="6404525"/>
          </a:xfrm>
        </p:grpSpPr>
        <p:sp>
          <p:nvSpPr>
            <p:cNvPr name="Freeform 8" id="8"/>
            <p:cNvSpPr/>
            <p:nvPr/>
          </p:nvSpPr>
          <p:spPr>
            <a:xfrm flipH="false" flipV="false" rot="0">
              <a:off x="0" y="0"/>
              <a:ext cx="20749106" cy="5646251"/>
            </a:xfrm>
            <a:custGeom>
              <a:avLst/>
              <a:gdLst/>
              <a:ahLst/>
              <a:cxnLst/>
              <a:rect r="r" b="b" t="t" l="l"/>
              <a:pathLst>
                <a:path h="5646251" w="20749106">
                  <a:moveTo>
                    <a:pt x="0" y="0"/>
                  </a:moveTo>
                  <a:lnTo>
                    <a:pt x="20749106" y="0"/>
                  </a:lnTo>
                  <a:lnTo>
                    <a:pt x="20749106" y="5646251"/>
                  </a:lnTo>
                  <a:lnTo>
                    <a:pt x="0" y="5646251"/>
                  </a:lnTo>
                  <a:lnTo>
                    <a:pt x="0" y="0"/>
                  </a:lnTo>
                  <a:close/>
                </a:path>
              </a:pathLst>
            </a:custGeom>
            <a:blipFill>
              <a:blip r:embed="rId2"/>
              <a:stretch>
                <a:fillRect l="0" t="0" r="0" b="0"/>
              </a:stretch>
            </a:blipFill>
          </p:spPr>
        </p:sp>
        <p:sp>
          <p:nvSpPr>
            <p:cNvPr name="TextBox 9" id="9"/>
            <p:cNvSpPr txBox="true"/>
            <p:nvPr/>
          </p:nvSpPr>
          <p:spPr>
            <a:xfrm rot="0">
              <a:off x="8621476" y="5835354"/>
              <a:ext cx="3506153" cy="569171"/>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Bricolage Grotesque"/>
                  <a:ea typeface="Bricolage Grotesque"/>
                  <a:cs typeface="Bricolage Grotesque"/>
                  <a:sym typeface="Bricolage Grotesque"/>
                </a:rPr>
                <a:t>Clusters Values</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graphicFrame>
        <p:nvGraphicFramePr>
          <p:cNvPr name="Table 5" id="5"/>
          <p:cNvGraphicFramePr>
            <a:graphicFrameLocks noGrp="true"/>
          </p:cNvGraphicFramePr>
          <p:nvPr/>
        </p:nvGraphicFramePr>
        <p:xfrm>
          <a:off x="1208878" y="3072320"/>
          <a:ext cx="16050422" cy="6166327"/>
        </p:xfrm>
        <a:graphic>
          <a:graphicData uri="http://schemas.openxmlformats.org/drawingml/2006/table">
            <a:tbl>
              <a:tblPr/>
              <a:tblGrid>
                <a:gridCol w="5350141"/>
                <a:gridCol w="5350141"/>
                <a:gridCol w="5350141"/>
              </a:tblGrid>
              <a:tr h="1293869">
                <a:tc gridSpan="3">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Random Forest Regressor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c hMerge="true">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Random Forest Regressor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c hMerge="true">
                  <a:txBody>
                    <a:bodyPr anchor="t" rtlCol="false"/>
                    <a:lstStyle/>
                    <a:p>
                      <a:pPr algn="ctr">
                        <a:lnSpc>
                          <a:spcPts val="5459"/>
                        </a:lnSpc>
                        <a:defRPr/>
                      </a:pPr>
                      <a:r>
                        <a:rPr lang="en-US" sz="3899" b="true">
                          <a:solidFill>
                            <a:srgbClr val="000000"/>
                          </a:solidFill>
                          <a:latin typeface="Bricolage Grotesque Bold"/>
                          <a:ea typeface="Bricolage Grotesque Bold"/>
                          <a:cs typeface="Bricolage Grotesque Bold"/>
                          <a:sym typeface="Bricolage Grotesque Bold"/>
                        </a:rPr>
                        <a:t>Random Forest Regressor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BEBDD"/>
                    </a:solidFill>
                  </a:tcPr>
                </a:tc>
              </a:tr>
              <a:tr h="1341791">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Goal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739"/>
                        </a:lnSpc>
                        <a:defRPr/>
                      </a:pPr>
                      <a:r>
                        <a:rPr lang="en-US" sz="4099" b="true">
                          <a:solidFill>
                            <a:srgbClr val="000000"/>
                          </a:solidFill>
                          <a:latin typeface="Bricolage Grotesque Bold"/>
                          <a:ea typeface="Bricolage Grotesque Bold"/>
                          <a:cs typeface="Bricolage Grotesque Bold"/>
                          <a:sym typeface="Bricolage Grotesque Bold"/>
                        </a:rPr>
                        <a:t>Insight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530667">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Predict seasonal sp</a:t>
                      </a:r>
                      <a:r>
                        <a:rPr lang="en-US" sz="2799">
                          <a:solidFill>
                            <a:srgbClr val="000000"/>
                          </a:solidFill>
                          <a:latin typeface="Bricolage Grotesque"/>
                          <a:ea typeface="Bricolage Grotesque"/>
                          <a:cs typeface="Bricolage Grotesque"/>
                          <a:sym typeface="Bricolage Grotesque"/>
                        </a:rPr>
                        <a:t>ending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Bricolage Grotesque"/>
                          <a:ea typeface="Bricolage Grotesque"/>
                          <a:cs typeface="Bricolage Grotesque"/>
                          <a:sym typeface="Bricolage Grotesque"/>
                        </a:rPr>
                        <a:t>Customer behavior</a:t>
                      </a:r>
                      <a:endParaRPr lang="en-US" sz="1100"/>
                    </a:p>
                    <a:p>
                      <a:pPr algn="ctr">
                        <a:lnSpc>
                          <a:spcPts val="3919"/>
                        </a:lnSpc>
                      </a:pPr>
                      <a:r>
                        <a:rPr lang="en-US" sz="2799">
                          <a:solidFill>
                            <a:srgbClr val="000000"/>
                          </a:solidFill>
                          <a:latin typeface="Bricolage Grotesque"/>
                          <a:ea typeface="Bricolage Grotesque"/>
                          <a:cs typeface="Bricolage Grotesque"/>
                          <a:sym typeface="Bricolage Grotesque"/>
                        </a:rPr>
                        <a:t>Persona</a:t>
                      </a:r>
                    </a:p>
                    <a:p>
                      <a:pPr algn="ctr">
                        <a:lnSpc>
                          <a:spcPts val="3919"/>
                        </a:lnSpc>
                      </a:pPr>
                      <a:r>
                        <a:rPr lang="en-US" sz="2799">
                          <a:solidFill>
                            <a:srgbClr val="000000"/>
                          </a:solidFill>
                          <a:latin typeface="Bricolage Grotesque"/>
                          <a:ea typeface="Bricolage Grotesque"/>
                          <a:cs typeface="Bricolage Grotesque"/>
                          <a:sym typeface="Bricolage Grotesque"/>
                        </a:rPr>
                        <a:t>Region</a:t>
                      </a:r>
                    </a:p>
                    <a:p>
                      <a:pPr algn="ctr">
                        <a:lnSpc>
                          <a:spcPts val="3919"/>
                        </a:lnSpc>
                      </a:pPr>
                      <a:r>
                        <a:rPr lang="en-US" sz="2799">
                          <a:solidFill>
                            <a:srgbClr val="000000"/>
                          </a:solidFill>
                          <a:latin typeface="Bricolage Grotesque"/>
                          <a:ea typeface="Bricolage Grotesque"/>
                          <a:cs typeface="Bricolage Grotesque"/>
                          <a:sym typeface="Bricolage Grotesque"/>
                        </a:rPr>
                        <a:t>Season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marL="604519" indent="-302260" lvl="1">
                        <a:lnSpc>
                          <a:spcPts val="3919"/>
                        </a:lnSpc>
                        <a:buFont typeface="Arial"/>
                        <a:buChar char="•"/>
                        <a:defRPr/>
                      </a:pPr>
                      <a:r>
                        <a:rPr lang="en-US" sz="2799">
                          <a:solidFill>
                            <a:srgbClr val="000000"/>
                          </a:solidFill>
                          <a:latin typeface="Bricolage Grotesque"/>
                          <a:ea typeface="Bricolage Grotesque"/>
                          <a:cs typeface="Bricolage Grotesque"/>
                          <a:sym typeface="Bricolage Grotesque"/>
                        </a:rPr>
                        <a:t>Most income from UJ</a:t>
                      </a:r>
                      <a:endParaRPr lang="en-US" sz="1100"/>
                    </a:p>
                    <a:p>
                      <a:pPr algn="l" marL="604519" indent="-302260" lvl="1">
                        <a:lnSpc>
                          <a:spcPts val="3919"/>
                        </a:lnSpc>
                        <a:buFont typeface="Arial"/>
                        <a:buChar char="•"/>
                      </a:pPr>
                      <a:r>
                        <a:rPr lang="en-US" sz="2799">
                          <a:solidFill>
                            <a:srgbClr val="000000"/>
                          </a:solidFill>
                          <a:latin typeface="Bricolage Grotesque"/>
                          <a:ea typeface="Bricolage Grotesque"/>
                          <a:cs typeface="Bricolage Grotesque"/>
                          <a:sym typeface="Bricolage Grotesque"/>
                        </a:rPr>
                        <a:t>Other regions (besides Centrale Europe) have negligeable income individually</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name="TextBox 7" id="7"/>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Income Predictor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56789" y="2955445"/>
            <a:ext cx="7703547" cy="5557790"/>
            <a:chOff x="0" y="0"/>
            <a:chExt cx="1126607" cy="812800"/>
          </a:xfrm>
        </p:grpSpPr>
        <p:sp>
          <p:nvSpPr>
            <p:cNvPr name="Freeform 6" id="6"/>
            <p:cNvSpPr/>
            <p:nvPr/>
          </p:nvSpPr>
          <p:spPr>
            <a:xfrm flipH="false" flipV="false" rot="0">
              <a:off x="0" y="0"/>
              <a:ext cx="1126607" cy="812800"/>
            </a:xfrm>
            <a:custGeom>
              <a:avLst/>
              <a:gdLst/>
              <a:ahLst/>
              <a:cxnLst/>
              <a:rect r="r" b="b" t="t" l="l"/>
              <a:pathLst>
                <a:path h="812800" w="1126607">
                  <a:moveTo>
                    <a:pt x="40199" y="0"/>
                  </a:moveTo>
                  <a:lnTo>
                    <a:pt x="1086407" y="0"/>
                  </a:lnTo>
                  <a:cubicBezTo>
                    <a:pt x="1108609" y="0"/>
                    <a:pt x="1126607" y="17998"/>
                    <a:pt x="1126607" y="40199"/>
                  </a:cubicBezTo>
                  <a:lnTo>
                    <a:pt x="1126607" y="772601"/>
                  </a:lnTo>
                  <a:cubicBezTo>
                    <a:pt x="1126607" y="794802"/>
                    <a:pt x="1108609" y="812800"/>
                    <a:pt x="1086407" y="812800"/>
                  </a:cubicBezTo>
                  <a:lnTo>
                    <a:pt x="40199" y="812800"/>
                  </a:lnTo>
                  <a:cubicBezTo>
                    <a:pt x="17998" y="812800"/>
                    <a:pt x="0" y="794802"/>
                    <a:pt x="0" y="772601"/>
                  </a:cubicBezTo>
                  <a:lnTo>
                    <a:pt x="0" y="40199"/>
                  </a:lnTo>
                  <a:cubicBezTo>
                    <a:pt x="0" y="17998"/>
                    <a:pt x="17998" y="0"/>
                    <a:pt x="40199" y="0"/>
                  </a:cubicBezTo>
                  <a:close/>
                </a:path>
              </a:pathLst>
            </a:custGeom>
            <a:blipFill>
              <a:blip r:embed="rId2"/>
              <a:stretch>
                <a:fillRect l="-28419" t="0" r="-28419" b="0"/>
              </a:stretch>
            </a:blipFill>
            <a:ln w="38100" cap="rnd">
              <a:solidFill>
                <a:srgbClr val="514338"/>
              </a:solidFill>
              <a:prstDash val="solid"/>
              <a:round/>
            </a:ln>
          </p:spPr>
        </p:sp>
      </p:grpSp>
      <p:grpSp>
        <p:nvGrpSpPr>
          <p:cNvPr name="Group 7" id="7"/>
          <p:cNvGrpSpPr/>
          <p:nvPr/>
        </p:nvGrpSpPr>
        <p:grpSpPr>
          <a:xfrm rot="0">
            <a:off x="9690949" y="2955445"/>
            <a:ext cx="7703547" cy="5557790"/>
            <a:chOff x="0" y="0"/>
            <a:chExt cx="1126607" cy="812800"/>
          </a:xfrm>
        </p:grpSpPr>
        <p:sp>
          <p:nvSpPr>
            <p:cNvPr name="Freeform 8" id="8"/>
            <p:cNvSpPr/>
            <p:nvPr/>
          </p:nvSpPr>
          <p:spPr>
            <a:xfrm flipH="false" flipV="false" rot="0">
              <a:off x="0" y="0"/>
              <a:ext cx="1126607" cy="812800"/>
            </a:xfrm>
            <a:custGeom>
              <a:avLst/>
              <a:gdLst/>
              <a:ahLst/>
              <a:cxnLst/>
              <a:rect r="r" b="b" t="t" l="l"/>
              <a:pathLst>
                <a:path h="812800" w="1126607">
                  <a:moveTo>
                    <a:pt x="40199" y="0"/>
                  </a:moveTo>
                  <a:lnTo>
                    <a:pt x="1086407" y="0"/>
                  </a:lnTo>
                  <a:cubicBezTo>
                    <a:pt x="1108609" y="0"/>
                    <a:pt x="1126607" y="17998"/>
                    <a:pt x="1126607" y="40199"/>
                  </a:cubicBezTo>
                  <a:lnTo>
                    <a:pt x="1126607" y="772601"/>
                  </a:lnTo>
                  <a:cubicBezTo>
                    <a:pt x="1126607" y="794802"/>
                    <a:pt x="1108609" y="812800"/>
                    <a:pt x="1086407" y="812800"/>
                  </a:cubicBezTo>
                  <a:lnTo>
                    <a:pt x="40199" y="812800"/>
                  </a:lnTo>
                  <a:cubicBezTo>
                    <a:pt x="17998" y="812800"/>
                    <a:pt x="0" y="794802"/>
                    <a:pt x="0" y="772601"/>
                  </a:cubicBezTo>
                  <a:lnTo>
                    <a:pt x="0" y="40199"/>
                  </a:lnTo>
                  <a:cubicBezTo>
                    <a:pt x="0" y="17998"/>
                    <a:pt x="17998" y="0"/>
                    <a:pt x="40199" y="0"/>
                  </a:cubicBezTo>
                  <a:close/>
                </a:path>
              </a:pathLst>
            </a:custGeom>
            <a:blipFill>
              <a:blip r:embed="rId3"/>
              <a:stretch>
                <a:fillRect l="0" t="-1544" r="0" b="-1544"/>
              </a:stretch>
            </a:blipFill>
            <a:ln w="38100" cap="rnd">
              <a:solidFill>
                <a:srgbClr val="514338"/>
              </a:solidFill>
              <a:prstDash val="solid"/>
              <a:round/>
            </a:ln>
          </p:spPr>
        </p:sp>
      </p:gr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name="TextBox 10" id="10"/>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Web Application</a:t>
            </a:r>
          </a:p>
        </p:txBody>
      </p:sp>
      <p:sp>
        <p:nvSpPr>
          <p:cNvPr name="TextBox 11" id="11"/>
          <p:cNvSpPr txBox="true"/>
          <p:nvPr/>
        </p:nvSpPr>
        <p:spPr>
          <a:xfrm rot="0">
            <a:off x="3135322" y="8629555"/>
            <a:ext cx="3946482" cy="438785"/>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Bricolage Grotesque"/>
                <a:ea typeface="Bricolage Grotesque"/>
                <a:cs typeface="Bricolage Grotesque"/>
                <a:sym typeface="Bricolage Grotesque"/>
              </a:rPr>
              <a:t>Custmer Interface</a:t>
            </a:r>
          </a:p>
        </p:txBody>
      </p:sp>
      <p:sp>
        <p:nvSpPr>
          <p:cNvPr name="TextBox 12" id="12"/>
          <p:cNvSpPr txBox="true"/>
          <p:nvPr/>
        </p:nvSpPr>
        <p:spPr>
          <a:xfrm rot="0">
            <a:off x="11569481" y="8629555"/>
            <a:ext cx="3946482" cy="438785"/>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Bricolage Grotesque"/>
                <a:ea typeface="Bricolage Grotesque"/>
                <a:cs typeface="Bricolage Grotesque"/>
                <a:sym typeface="Bricolage Grotesque"/>
              </a:rPr>
              <a:t>Income Interface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Challenges Faced</a:t>
            </a:r>
          </a:p>
        </p:txBody>
      </p:sp>
      <p:grpSp>
        <p:nvGrpSpPr>
          <p:cNvPr name="Group 7" id="7"/>
          <p:cNvGrpSpPr/>
          <p:nvPr/>
        </p:nvGrpSpPr>
        <p:grpSpPr>
          <a:xfrm rot="0">
            <a:off x="10076266" y="3447003"/>
            <a:ext cx="3765591" cy="1852855"/>
            <a:chOff x="0" y="0"/>
            <a:chExt cx="908068" cy="446814"/>
          </a:xfrm>
        </p:grpSpPr>
        <p:sp>
          <p:nvSpPr>
            <p:cNvPr name="Freeform 8" id="8"/>
            <p:cNvSpPr/>
            <p:nvPr/>
          </p:nvSpPr>
          <p:spPr>
            <a:xfrm flipH="false" flipV="false" rot="0">
              <a:off x="0" y="0"/>
              <a:ext cx="908068" cy="446814"/>
            </a:xfrm>
            <a:custGeom>
              <a:avLst/>
              <a:gdLst/>
              <a:ahLst/>
              <a:cxnLst/>
              <a:rect r="r" b="b" t="t" l="l"/>
              <a:pathLst>
                <a:path h="446814" w="908068">
                  <a:moveTo>
                    <a:pt x="908068" y="61679"/>
                  </a:moveTo>
                  <a:lnTo>
                    <a:pt x="908068" y="385135"/>
                  </a:lnTo>
                  <a:cubicBezTo>
                    <a:pt x="908068" y="401493"/>
                    <a:pt x="901570" y="417182"/>
                    <a:pt x="890003" y="428749"/>
                  </a:cubicBezTo>
                  <a:cubicBezTo>
                    <a:pt x="878436" y="440316"/>
                    <a:pt x="862748" y="446814"/>
                    <a:pt x="846390" y="446814"/>
                  </a:cubicBezTo>
                  <a:lnTo>
                    <a:pt x="61679" y="446814"/>
                  </a:lnTo>
                  <a:cubicBezTo>
                    <a:pt x="45321" y="446814"/>
                    <a:pt x="29632" y="440316"/>
                    <a:pt x="18065" y="428749"/>
                  </a:cubicBezTo>
                  <a:cubicBezTo>
                    <a:pt x="6498" y="417182"/>
                    <a:pt x="0" y="401493"/>
                    <a:pt x="0" y="385135"/>
                  </a:cubicBezTo>
                  <a:lnTo>
                    <a:pt x="0" y="61679"/>
                  </a:lnTo>
                  <a:cubicBezTo>
                    <a:pt x="0" y="45321"/>
                    <a:pt x="6498" y="29632"/>
                    <a:pt x="18065" y="18065"/>
                  </a:cubicBezTo>
                  <a:cubicBezTo>
                    <a:pt x="29632" y="6498"/>
                    <a:pt x="45321" y="0"/>
                    <a:pt x="61679" y="0"/>
                  </a:cubicBezTo>
                  <a:lnTo>
                    <a:pt x="846390" y="0"/>
                  </a:lnTo>
                  <a:cubicBezTo>
                    <a:pt x="880454" y="0"/>
                    <a:pt x="908068" y="27615"/>
                    <a:pt x="908068" y="61679"/>
                  </a:cubicBezTo>
                  <a:close/>
                </a:path>
              </a:pathLst>
            </a:custGeom>
            <a:solidFill>
              <a:srgbClr val="EBEBDD"/>
            </a:solidFill>
            <a:ln w="57150" cap="rnd">
              <a:solidFill>
                <a:srgbClr val="514338"/>
              </a:solidFill>
              <a:prstDash val="solid"/>
              <a:round/>
            </a:ln>
          </p:spPr>
        </p:sp>
        <p:sp>
          <p:nvSpPr>
            <p:cNvPr name="TextBox 9" id="9"/>
            <p:cNvSpPr txBox="true"/>
            <p:nvPr/>
          </p:nvSpPr>
          <p:spPr>
            <a:xfrm>
              <a:off x="0" y="-66675"/>
              <a:ext cx="908068"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Churn Data Leakage</a:t>
              </a:r>
            </a:p>
          </p:txBody>
        </p:sp>
      </p:grpSp>
      <p:grpSp>
        <p:nvGrpSpPr>
          <p:cNvPr name="Group 10" id="10"/>
          <p:cNvGrpSpPr/>
          <p:nvPr/>
        </p:nvGrpSpPr>
        <p:grpSpPr>
          <a:xfrm rot="0">
            <a:off x="5764475" y="5299858"/>
            <a:ext cx="3897278" cy="1467776"/>
            <a:chOff x="0" y="0"/>
            <a:chExt cx="939824" cy="353953"/>
          </a:xfrm>
        </p:grpSpPr>
        <p:sp>
          <p:nvSpPr>
            <p:cNvPr name="Freeform 11" id="11"/>
            <p:cNvSpPr/>
            <p:nvPr/>
          </p:nvSpPr>
          <p:spPr>
            <a:xfrm flipH="false" flipV="false" rot="0">
              <a:off x="0" y="0"/>
              <a:ext cx="939825" cy="353953"/>
            </a:xfrm>
            <a:custGeom>
              <a:avLst/>
              <a:gdLst/>
              <a:ahLst/>
              <a:cxnLst/>
              <a:rect r="r" b="b" t="t" l="l"/>
              <a:pathLst>
                <a:path h="353953" w="939825">
                  <a:moveTo>
                    <a:pt x="939825" y="59595"/>
                  </a:moveTo>
                  <a:lnTo>
                    <a:pt x="939825" y="294358"/>
                  </a:lnTo>
                  <a:cubicBezTo>
                    <a:pt x="939825" y="327271"/>
                    <a:pt x="913143" y="353953"/>
                    <a:pt x="880230" y="353953"/>
                  </a:cubicBezTo>
                  <a:lnTo>
                    <a:pt x="59595" y="353953"/>
                  </a:lnTo>
                  <a:cubicBezTo>
                    <a:pt x="26682" y="353953"/>
                    <a:pt x="0" y="327271"/>
                    <a:pt x="0" y="294358"/>
                  </a:cubicBezTo>
                  <a:lnTo>
                    <a:pt x="0" y="59595"/>
                  </a:lnTo>
                  <a:cubicBezTo>
                    <a:pt x="0" y="26682"/>
                    <a:pt x="26682" y="0"/>
                    <a:pt x="59595" y="0"/>
                  </a:cubicBezTo>
                  <a:lnTo>
                    <a:pt x="880230" y="0"/>
                  </a:lnTo>
                  <a:cubicBezTo>
                    <a:pt x="896035" y="0"/>
                    <a:pt x="911193" y="6279"/>
                    <a:pt x="922370" y="17455"/>
                  </a:cubicBezTo>
                  <a:cubicBezTo>
                    <a:pt x="933546" y="28631"/>
                    <a:pt x="939825" y="43789"/>
                    <a:pt x="939825" y="59595"/>
                  </a:cubicBezTo>
                  <a:close/>
                </a:path>
              </a:pathLst>
            </a:custGeom>
            <a:solidFill>
              <a:srgbClr val="FBFBF8"/>
            </a:solidFill>
            <a:ln w="57150" cap="rnd">
              <a:solidFill>
                <a:srgbClr val="514338"/>
              </a:solidFill>
              <a:prstDash val="solid"/>
              <a:round/>
            </a:ln>
          </p:spPr>
        </p:sp>
        <p:sp>
          <p:nvSpPr>
            <p:cNvPr name="TextBox 12" id="12"/>
            <p:cNvSpPr txBox="true"/>
            <p:nvPr/>
          </p:nvSpPr>
          <p:spPr>
            <a:xfrm>
              <a:off x="0" y="-66675"/>
              <a:ext cx="939824" cy="420628"/>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Negative Monatary</a:t>
              </a:r>
            </a:p>
          </p:txBody>
        </p:sp>
      </p:grpSp>
      <p:grpSp>
        <p:nvGrpSpPr>
          <p:cNvPr name="Group 13" id="13"/>
          <p:cNvGrpSpPr/>
          <p:nvPr/>
        </p:nvGrpSpPr>
        <p:grpSpPr>
          <a:xfrm rot="0">
            <a:off x="5764475" y="3688429"/>
            <a:ext cx="3897278" cy="1370004"/>
            <a:chOff x="0" y="0"/>
            <a:chExt cx="939824" cy="330375"/>
          </a:xfrm>
        </p:grpSpPr>
        <p:sp>
          <p:nvSpPr>
            <p:cNvPr name="Freeform 14" id="14"/>
            <p:cNvSpPr/>
            <p:nvPr/>
          </p:nvSpPr>
          <p:spPr>
            <a:xfrm flipH="false" flipV="false" rot="0">
              <a:off x="0" y="0"/>
              <a:ext cx="939825" cy="330375"/>
            </a:xfrm>
            <a:custGeom>
              <a:avLst/>
              <a:gdLst/>
              <a:ahLst/>
              <a:cxnLst/>
              <a:rect r="r" b="b" t="t" l="l"/>
              <a:pathLst>
                <a:path h="330375" w="939825">
                  <a:moveTo>
                    <a:pt x="939825" y="59595"/>
                  </a:moveTo>
                  <a:lnTo>
                    <a:pt x="939825" y="270780"/>
                  </a:lnTo>
                  <a:cubicBezTo>
                    <a:pt x="939825" y="303693"/>
                    <a:pt x="913143" y="330375"/>
                    <a:pt x="880230" y="330375"/>
                  </a:cubicBezTo>
                  <a:lnTo>
                    <a:pt x="59595" y="330375"/>
                  </a:lnTo>
                  <a:cubicBezTo>
                    <a:pt x="26682" y="330375"/>
                    <a:pt x="0" y="303693"/>
                    <a:pt x="0" y="270780"/>
                  </a:cubicBezTo>
                  <a:lnTo>
                    <a:pt x="0" y="59595"/>
                  </a:lnTo>
                  <a:cubicBezTo>
                    <a:pt x="0" y="26682"/>
                    <a:pt x="26682" y="0"/>
                    <a:pt x="59595" y="0"/>
                  </a:cubicBezTo>
                  <a:lnTo>
                    <a:pt x="880230" y="0"/>
                  </a:lnTo>
                  <a:cubicBezTo>
                    <a:pt x="896035" y="0"/>
                    <a:pt x="911193" y="6279"/>
                    <a:pt x="922370" y="17455"/>
                  </a:cubicBezTo>
                  <a:cubicBezTo>
                    <a:pt x="933546" y="28631"/>
                    <a:pt x="939825" y="43789"/>
                    <a:pt x="939825" y="59595"/>
                  </a:cubicBezTo>
                  <a:close/>
                </a:path>
              </a:pathLst>
            </a:custGeom>
            <a:solidFill>
              <a:srgbClr val="FBFBF8"/>
            </a:solidFill>
            <a:ln w="57150" cap="rnd">
              <a:solidFill>
                <a:srgbClr val="514338"/>
              </a:solidFill>
              <a:prstDash val="solid"/>
              <a:round/>
            </a:ln>
          </p:spPr>
        </p:sp>
        <p:sp>
          <p:nvSpPr>
            <p:cNvPr name="TextBox 15" id="15"/>
            <p:cNvSpPr txBox="true"/>
            <p:nvPr/>
          </p:nvSpPr>
          <p:spPr>
            <a:xfrm>
              <a:off x="0" y="-66675"/>
              <a:ext cx="939824" cy="397050"/>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Tenure&gt;Recency</a:t>
              </a:r>
            </a:p>
          </p:txBody>
        </p:sp>
      </p:grpSp>
      <p:grpSp>
        <p:nvGrpSpPr>
          <p:cNvPr name="Group 16" id="16"/>
          <p:cNvGrpSpPr/>
          <p:nvPr/>
        </p:nvGrpSpPr>
        <p:grpSpPr>
          <a:xfrm rot="0">
            <a:off x="1660237" y="3447003"/>
            <a:ext cx="3897278" cy="1852855"/>
            <a:chOff x="0" y="0"/>
            <a:chExt cx="939824" cy="446814"/>
          </a:xfrm>
        </p:grpSpPr>
        <p:sp>
          <p:nvSpPr>
            <p:cNvPr name="Freeform 17" id="17"/>
            <p:cNvSpPr/>
            <p:nvPr/>
          </p:nvSpPr>
          <p:spPr>
            <a:xfrm flipH="false" flipV="false" rot="0">
              <a:off x="0" y="0"/>
              <a:ext cx="939825" cy="446814"/>
            </a:xfrm>
            <a:custGeom>
              <a:avLst/>
              <a:gdLst/>
              <a:ahLst/>
              <a:cxnLst/>
              <a:rect r="r" b="b" t="t" l="l"/>
              <a:pathLst>
                <a:path h="446814" w="939825">
                  <a:moveTo>
                    <a:pt x="939825" y="59595"/>
                  </a:moveTo>
                  <a:lnTo>
                    <a:pt x="939825" y="387219"/>
                  </a:lnTo>
                  <a:cubicBezTo>
                    <a:pt x="939825" y="420133"/>
                    <a:pt x="913143" y="446814"/>
                    <a:pt x="880230" y="446814"/>
                  </a:cubicBezTo>
                  <a:lnTo>
                    <a:pt x="59595" y="446814"/>
                  </a:lnTo>
                  <a:cubicBezTo>
                    <a:pt x="26682" y="446814"/>
                    <a:pt x="0" y="420133"/>
                    <a:pt x="0" y="387219"/>
                  </a:cubicBezTo>
                  <a:lnTo>
                    <a:pt x="0" y="59595"/>
                  </a:lnTo>
                  <a:cubicBezTo>
                    <a:pt x="0" y="26682"/>
                    <a:pt x="26682" y="0"/>
                    <a:pt x="59595" y="0"/>
                  </a:cubicBezTo>
                  <a:lnTo>
                    <a:pt x="880230" y="0"/>
                  </a:lnTo>
                  <a:cubicBezTo>
                    <a:pt x="896035" y="0"/>
                    <a:pt x="911193" y="6279"/>
                    <a:pt x="922370" y="17455"/>
                  </a:cubicBezTo>
                  <a:cubicBezTo>
                    <a:pt x="933546" y="28631"/>
                    <a:pt x="939825" y="43789"/>
                    <a:pt x="939825" y="59595"/>
                  </a:cubicBezTo>
                  <a:close/>
                </a:path>
              </a:pathLst>
            </a:custGeom>
            <a:solidFill>
              <a:srgbClr val="EBEBDD"/>
            </a:solidFill>
            <a:ln w="57150" cap="rnd">
              <a:solidFill>
                <a:srgbClr val="514338"/>
              </a:solidFill>
              <a:prstDash val="solid"/>
              <a:round/>
            </a:ln>
          </p:spPr>
        </p:sp>
        <p:sp>
          <p:nvSpPr>
            <p:cNvPr name="TextBox 18" id="18"/>
            <p:cNvSpPr txBox="true"/>
            <p:nvPr/>
          </p:nvSpPr>
          <p:spPr>
            <a:xfrm>
              <a:off x="0" y="-66675"/>
              <a:ext cx="939824"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Erronic Data</a:t>
              </a:r>
            </a:p>
          </p:txBody>
        </p:sp>
      </p:grpSp>
      <p:grpSp>
        <p:nvGrpSpPr>
          <p:cNvPr name="Group 19" id="19"/>
          <p:cNvGrpSpPr/>
          <p:nvPr/>
        </p:nvGrpSpPr>
        <p:grpSpPr>
          <a:xfrm rot="0">
            <a:off x="14260958" y="3447003"/>
            <a:ext cx="3765591" cy="1852855"/>
            <a:chOff x="0" y="0"/>
            <a:chExt cx="908068" cy="446814"/>
          </a:xfrm>
        </p:grpSpPr>
        <p:sp>
          <p:nvSpPr>
            <p:cNvPr name="Freeform 20" id="20"/>
            <p:cNvSpPr/>
            <p:nvPr/>
          </p:nvSpPr>
          <p:spPr>
            <a:xfrm flipH="false" flipV="false" rot="0">
              <a:off x="0" y="0"/>
              <a:ext cx="908068" cy="446814"/>
            </a:xfrm>
            <a:custGeom>
              <a:avLst/>
              <a:gdLst/>
              <a:ahLst/>
              <a:cxnLst/>
              <a:rect r="r" b="b" t="t" l="l"/>
              <a:pathLst>
                <a:path h="446814" w="908068">
                  <a:moveTo>
                    <a:pt x="908068" y="61679"/>
                  </a:moveTo>
                  <a:lnTo>
                    <a:pt x="908068" y="385135"/>
                  </a:lnTo>
                  <a:cubicBezTo>
                    <a:pt x="908068" y="401493"/>
                    <a:pt x="901570" y="417182"/>
                    <a:pt x="890003" y="428749"/>
                  </a:cubicBezTo>
                  <a:cubicBezTo>
                    <a:pt x="878436" y="440316"/>
                    <a:pt x="862748" y="446814"/>
                    <a:pt x="846390" y="446814"/>
                  </a:cubicBezTo>
                  <a:lnTo>
                    <a:pt x="61679" y="446814"/>
                  </a:lnTo>
                  <a:cubicBezTo>
                    <a:pt x="45321" y="446814"/>
                    <a:pt x="29632" y="440316"/>
                    <a:pt x="18065" y="428749"/>
                  </a:cubicBezTo>
                  <a:cubicBezTo>
                    <a:pt x="6498" y="417182"/>
                    <a:pt x="0" y="401493"/>
                    <a:pt x="0" y="385135"/>
                  </a:cubicBezTo>
                  <a:lnTo>
                    <a:pt x="0" y="61679"/>
                  </a:lnTo>
                  <a:cubicBezTo>
                    <a:pt x="0" y="45321"/>
                    <a:pt x="6498" y="29632"/>
                    <a:pt x="18065" y="18065"/>
                  </a:cubicBezTo>
                  <a:cubicBezTo>
                    <a:pt x="29632" y="6498"/>
                    <a:pt x="45321" y="0"/>
                    <a:pt x="61679" y="0"/>
                  </a:cubicBezTo>
                  <a:lnTo>
                    <a:pt x="846390" y="0"/>
                  </a:lnTo>
                  <a:cubicBezTo>
                    <a:pt x="880454" y="0"/>
                    <a:pt x="908068" y="27615"/>
                    <a:pt x="908068" y="61679"/>
                  </a:cubicBezTo>
                  <a:close/>
                </a:path>
              </a:pathLst>
            </a:custGeom>
            <a:solidFill>
              <a:srgbClr val="EBEBDD"/>
            </a:solidFill>
            <a:ln w="57150" cap="rnd">
              <a:solidFill>
                <a:srgbClr val="514338"/>
              </a:solidFill>
              <a:prstDash val="solid"/>
              <a:round/>
            </a:ln>
          </p:spPr>
        </p:sp>
        <p:sp>
          <p:nvSpPr>
            <p:cNvPr name="TextBox 21" id="21"/>
            <p:cNvSpPr txBox="true"/>
            <p:nvPr/>
          </p:nvSpPr>
          <p:spPr>
            <a:xfrm>
              <a:off x="0" y="-66675"/>
              <a:ext cx="908068"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2 app synchronasation</a:t>
              </a:r>
            </a:p>
          </p:txBody>
        </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Area of Improvement</a:t>
            </a:r>
          </a:p>
        </p:txBody>
      </p:sp>
      <p:grpSp>
        <p:nvGrpSpPr>
          <p:cNvPr name="Group 7" id="7"/>
          <p:cNvGrpSpPr/>
          <p:nvPr/>
        </p:nvGrpSpPr>
        <p:grpSpPr>
          <a:xfrm rot="0">
            <a:off x="7550191" y="3637503"/>
            <a:ext cx="3765591" cy="1852855"/>
            <a:chOff x="0" y="0"/>
            <a:chExt cx="908068" cy="446814"/>
          </a:xfrm>
        </p:grpSpPr>
        <p:sp>
          <p:nvSpPr>
            <p:cNvPr name="Freeform 8" id="8"/>
            <p:cNvSpPr/>
            <p:nvPr/>
          </p:nvSpPr>
          <p:spPr>
            <a:xfrm flipH="false" flipV="false" rot="0">
              <a:off x="0" y="0"/>
              <a:ext cx="908068" cy="446814"/>
            </a:xfrm>
            <a:custGeom>
              <a:avLst/>
              <a:gdLst/>
              <a:ahLst/>
              <a:cxnLst/>
              <a:rect r="r" b="b" t="t" l="l"/>
              <a:pathLst>
                <a:path h="446814" w="908068">
                  <a:moveTo>
                    <a:pt x="908068" y="61679"/>
                  </a:moveTo>
                  <a:lnTo>
                    <a:pt x="908068" y="385135"/>
                  </a:lnTo>
                  <a:cubicBezTo>
                    <a:pt x="908068" y="401493"/>
                    <a:pt x="901570" y="417182"/>
                    <a:pt x="890003" y="428749"/>
                  </a:cubicBezTo>
                  <a:cubicBezTo>
                    <a:pt x="878436" y="440316"/>
                    <a:pt x="862748" y="446814"/>
                    <a:pt x="846390" y="446814"/>
                  </a:cubicBezTo>
                  <a:lnTo>
                    <a:pt x="61679" y="446814"/>
                  </a:lnTo>
                  <a:cubicBezTo>
                    <a:pt x="45321" y="446814"/>
                    <a:pt x="29632" y="440316"/>
                    <a:pt x="18065" y="428749"/>
                  </a:cubicBezTo>
                  <a:cubicBezTo>
                    <a:pt x="6498" y="417182"/>
                    <a:pt x="0" y="401493"/>
                    <a:pt x="0" y="385135"/>
                  </a:cubicBezTo>
                  <a:lnTo>
                    <a:pt x="0" y="61679"/>
                  </a:lnTo>
                  <a:cubicBezTo>
                    <a:pt x="0" y="45321"/>
                    <a:pt x="6498" y="29632"/>
                    <a:pt x="18065" y="18065"/>
                  </a:cubicBezTo>
                  <a:cubicBezTo>
                    <a:pt x="29632" y="6498"/>
                    <a:pt x="45321" y="0"/>
                    <a:pt x="61679" y="0"/>
                  </a:cubicBezTo>
                  <a:lnTo>
                    <a:pt x="846390" y="0"/>
                  </a:lnTo>
                  <a:cubicBezTo>
                    <a:pt x="880454" y="0"/>
                    <a:pt x="908068" y="27615"/>
                    <a:pt x="908068" y="61679"/>
                  </a:cubicBezTo>
                  <a:close/>
                </a:path>
              </a:pathLst>
            </a:custGeom>
            <a:solidFill>
              <a:srgbClr val="EBEBDD"/>
            </a:solidFill>
            <a:ln w="57150" cap="rnd">
              <a:solidFill>
                <a:srgbClr val="514338"/>
              </a:solidFill>
              <a:prstDash val="solid"/>
              <a:round/>
            </a:ln>
          </p:spPr>
        </p:sp>
        <p:sp>
          <p:nvSpPr>
            <p:cNvPr name="TextBox 9" id="9"/>
            <p:cNvSpPr txBox="true"/>
            <p:nvPr/>
          </p:nvSpPr>
          <p:spPr>
            <a:xfrm>
              <a:off x="0" y="-66675"/>
              <a:ext cx="908068"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Handle imbalance</a:t>
              </a:r>
            </a:p>
          </p:txBody>
        </p:sp>
      </p:grpSp>
      <p:grpSp>
        <p:nvGrpSpPr>
          <p:cNvPr name="Group 10" id="10"/>
          <p:cNvGrpSpPr/>
          <p:nvPr/>
        </p:nvGrpSpPr>
        <p:grpSpPr>
          <a:xfrm rot="0">
            <a:off x="1183987" y="3637503"/>
            <a:ext cx="3897278" cy="1852855"/>
            <a:chOff x="0" y="0"/>
            <a:chExt cx="939824" cy="446814"/>
          </a:xfrm>
        </p:grpSpPr>
        <p:sp>
          <p:nvSpPr>
            <p:cNvPr name="Freeform 11" id="11"/>
            <p:cNvSpPr/>
            <p:nvPr/>
          </p:nvSpPr>
          <p:spPr>
            <a:xfrm flipH="false" flipV="false" rot="0">
              <a:off x="0" y="0"/>
              <a:ext cx="939825" cy="446814"/>
            </a:xfrm>
            <a:custGeom>
              <a:avLst/>
              <a:gdLst/>
              <a:ahLst/>
              <a:cxnLst/>
              <a:rect r="r" b="b" t="t" l="l"/>
              <a:pathLst>
                <a:path h="446814" w="939825">
                  <a:moveTo>
                    <a:pt x="939825" y="59595"/>
                  </a:moveTo>
                  <a:lnTo>
                    <a:pt x="939825" y="387219"/>
                  </a:lnTo>
                  <a:cubicBezTo>
                    <a:pt x="939825" y="420133"/>
                    <a:pt x="913143" y="446814"/>
                    <a:pt x="880230" y="446814"/>
                  </a:cubicBezTo>
                  <a:lnTo>
                    <a:pt x="59595" y="446814"/>
                  </a:lnTo>
                  <a:cubicBezTo>
                    <a:pt x="26682" y="446814"/>
                    <a:pt x="0" y="420133"/>
                    <a:pt x="0" y="387219"/>
                  </a:cubicBezTo>
                  <a:lnTo>
                    <a:pt x="0" y="59595"/>
                  </a:lnTo>
                  <a:cubicBezTo>
                    <a:pt x="0" y="26682"/>
                    <a:pt x="26682" y="0"/>
                    <a:pt x="59595" y="0"/>
                  </a:cubicBezTo>
                  <a:lnTo>
                    <a:pt x="880230" y="0"/>
                  </a:lnTo>
                  <a:cubicBezTo>
                    <a:pt x="896035" y="0"/>
                    <a:pt x="911193" y="6279"/>
                    <a:pt x="922370" y="17455"/>
                  </a:cubicBezTo>
                  <a:cubicBezTo>
                    <a:pt x="933546" y="28631"/>
                    <a:pt x="939825" y="43789"/>
                    <a:pt x="939825" y="59595"/>
                  </a:cubicBezTo>
                  <a:close/>
                </a:path>
              </a:pathLst>
            </a:custGeom>
            <a:solidFill>
              <a:srgbClr val="EBEBDD"/>
            </a:solidFill>
            <a:ln w="57150" cap="rnd">
              <a:solidFill>
                <a:srgbClr val="514338"/>
              </a:solidFill>
              <a:prstDash val="solid"/>
              <a:round/>
            </a:ln>
          </p:spPr>
        </p:sp>
        <p:sp>
          <p:nvSpPr>
            <p:cNvPr name="TextBox 12" id="12"/>
            <p:cNvSpPr txBox="true"/>
            <p:nvPr/>
          </p:nvSpPr>
          <p:spPr>
            <a:xfrm>
              <a:off x="0" y="-66675"/>
              <a:ext cx="939824"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Fix data leakage</a:t>
              </a:r>
            </a:p>
          </p:txBody>
        </p:sp>
      </p:grpSp>
      <p:grpSp>
        <p:nvGrpSpPr>
          <p:cNvPr name="Group 13" id="13"/>
          <p:cNvGrpSpPr/>
          <p:nvPr/>
        </p:nvGrpSpPr>
        <p:grpSpPr>
          <a:xfrm rot="0">
            <a:off x="13784708" y="3637503"/>
            <a:ext cx="3765591" cy="1852855"/>
            <a:chOff x="0" y="0"/>
            <a:chExt cx="908068" cy="446814"/>
          </a:xfrm>
        </p:grpSpPr>
        <p:sp>
          <p:nvSpPr>
            <p:cNvPr name="Freeform 14" id="14"/>
            <p:cNvSpPr/>
            <p:nvPr/>
          </p:nvSpPr>
          <p:spPr>
            <a:xfrm flipH="false" flipV="false" rot="0">
              <a:off x="0" y="0"/>
              <a:ext cx="908068" cy="446814"/>
            </a:xfrm>
            <a:custGeom>
              <a:avLst/>
              <a:gdLst/>
              <a:ahLst/>
              <a:cxnLst/>
              <a:rect r="r" b="b" t="t" l="l"/>
              <a:pathLst>
                <a:path h="446814" w="908068">
                  <a:moveTo>
                    <a:pt x="908068" y="61679"/>
                  </a:moveTo>
                  <a:lnTo>
                    <a:pt x="908068" y="385135"/>
                  </a:lnTo>
                  <a:cubicBezTo>
                    <a:pt x="908068" y="401493"/>
                    <a:pt x="901570" y="417182"/>
                    <a:pt x="890003" y="428749"/>
                  </a:cubicBezTo>
                  <a:cubicBezTo>
                    <a:pt x="878436" y="440316"/>
                    <a:pt x="862748" y="446814"/>
                    <a:pt x="846390" y="446814"/>
                  </a:cubicBezTo>
                  <a:lnTo>
                    <a:pt x="61679" y="446814"/>
                  </a:lnTo>
                  <a:cubicBezTo>
                    <a:pt x="45321" y="446814"/>
                    <a:pt x="29632" y="440316"/>
                    <a:pt x="18065" y="428749"/>
                  </a:cubicBezTo>
                  <a:cubicBezTo>
                    <a:pt x="6498" y="417182"/>
                    <a:pt x="0" y="401493"/>
                    <a:pt x="0" y="385135"/>
                  </a:cubicBezTo>
                  <a:lnTo>
                    <a:pt x="0" y="61679"/>
                  </a:lnTo>
                  <a:cubicBezTo>
                    <a:pt x="0" y="45321"/>
                    <a:pt x="6498" y="29632"/>
                    <a:pt x="18065" y="18065"/>
                  </a:cubicBezTo>
                  <a:cubicBezTo>
                    <a:pt x="29632" y="6498"/>
                    <a:pt x="45321" y="0"/>
                    <a:pt x="61679" y="0"/>
                  </a:cubicBezTo>
                  <a:lnTo>
                    <a:pt x="846390" y="0"/>
                  </a:lnTo>
                  <a:cubicBezTo>
                    <a:pt x="880454" y="0"/>
                    <a:pt x="908068" y="27615"/>
                    <a:pt x="908068" y="61679"/>
                  </a:cubicBezTo>
                  <a:close/>
                </a:path>
              </a:pathLst>
            </a:custGeom>
            <a:solidFill>
              <a:srgbClr val="EBEBDD"/>
            </a:solidFill>
            <a:ln w="57150" cap="rnd">
              <a:solidFill>
                <a:srgbClr val="514338"/>
              </a:solidFill>
              <a:prstDash val="solid"/>
              <a:round/>
            </a:ln>
          </p:spPr>
        </p:sp>
        <p:sp>
          <p:nvSpPr>
            <p:cNvPr name="TextBox 15" id="15"/>
            <p:cNvSpPr txBox="true"/>
            <p:nvPr/>
          </p:nvSpPr>
          <p:spPr>
            <a:xfrm>
              <a:off x="0" y="-66675"/>
              <a:ext cx="908068"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Add new features</a:t>
              </a:r>
            </a:p>
          </p:txBody>
        </p:sp>
      </p:grpSp>
      <p:grpSp>
        <p:nvGrpSpPr>
          <p:cNvPr name="Group 16" id="16"/>
          <p:cNvGrpSpPr/>
          <p:nvPr/>
        </p:nvGrpSpPr>
        <p:grpSpPr>
          <a:xfrm rot="0">
            <a:off x="10444306" y="6595258"/>
            <a:ext cx="3765591" cy="1852855"/>
            <a:chOff x="0" y="0"/>
            <a:chExt cx="908068" cy="446814"/>
          </a:xfrm>
        </p:grpSpPr>
        <p:sp>
          <p:nvSpPr>
            <p:cNvPr name="Freeform 17" id="17"/>
            <p:cNvSpPr/>
            <p:nvPr/>
          </p:nvSpPr>
          <p:spPr>
            <a:xfrm flipH="false" flipV="false" rot="0">
              <a:off x="0" y="0"/>
              <a:ext cx="908068" cy="446814"/>
            </a:xfrm>
            <a:custGeom>
              <a:avLst/>
              <a:gdLst/>
              <a:ahLst/>
              <a:cxnLst/>
              <a:rect r="r" b="b" t="t" l="l"/>
              <a:pathLst>
                <a:path h="446814" w="908068">
                  <a:moveTo>
                    <a:pt x="908068" y="61679"/>
                  </a:moveTo>
                  <a:lnTo>
                    <a:pt x="908068" y="385135"/>
                  </a:lnTo>
                  <a:cubicBezTo>
                    <a:pt x="908068" y="401493"/>
                    <a:pt x="901570" y="417182"/>
                    <a:pt x="890003" y="428749"/>
                  </a:cubicBezTo>
                  <a:cubicBezTo>
                    <a:pt x="878436" y="440316"/>
                    <a:pt x="862748" y="446814"/>
                    <a:pt x="846390" y="446814"/>
                  </a:cubicBezTo>
                  <a:lnTo>
                    <a:pt x="61679" y="446814"/>
                  </a:lnTo>
                  <a:cubicBezTo>
                    <a:pt x="45321" y="446814"/>
                    <a:pt x="29632" y="440316"/>
                    <a:pt x="18065" y="428749"/>
                  </a:cubicBezTo>
                  <a:cubicBezTo>
                    <a:pt x="6498" y="417182"/>
                    <a:pt x="0" y="401493"/>
                    <a:pt x="0" y="385135"/>
                  </a:cubicBezTo>
                  <a:lnTo>
                    <a:pt x="0" y="61679"/>
                  </a:lnTo>
                  <a:cubicBezTo>
                    <a:pt x="0" y="45321"/>
                    <a:pt x="6498" y="29632"/>
                    <a:pt x="18065" y="18065"/>
                  </a:cubicBezTo>
                  <a:cubicBezTo>
                    <a:pt x="29632" y="6498"/>
                    <a:pt x="45321" y="0"/>
                    <a:pt x="61679" y="0"/>
                  </a:cubicBezTo>
                  <a:lnTo>
                    <a:pt x="846390" y="0"/>
                  </a:lnTo>
                  <a:cubicBezTo>
                    <a:pt x="880454" y="0"/>
                    <a:pt x="908068" y="27615"/>
                    <a:pt x="908068" y="61679"/>
                  </a:cubicBezTo>
                  <a:close/>
                </a:path>
              </a:pathLst>
            </a:custGeom>
            <a:solidFill>
              <a:srgbClr val="EBEBDD"/>
            </a:solidFill>
            <a:ln w="57150" cap="rnd">
              <a:solidFill>
                <a:srgbClr val="514338"/>
              </a:solidFill>
              <a:prstDash val="solid"/>
              <a:round/>
            </a:ln>
          </p:spPr>
        </p:sp>
        <p:sp>
          <p:nvSpPr>
            <p:cNvPr name="TextBox 18" id="18"/>
            <p:cNvSpPr txBox="true"/>
            <p:nvPr/>
          </p:nvSpPr>
          <p:spPr>
            <a:xfrm>
              <a:off x="0" y="-66675"/>
              <a:ext cx="908068"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Add time-series modeling</a:t>
              </a:r>
            </a:p>
          </p:txBody>
        </p:sp>
      </p:grpSp>
      <p:grpSp>
        <p:nvGrpSpPr>
          <p:cNvPr name="Group 19" id="19"/>
          <p:cNvGrpSpPr/>
          <p:nvPr/>
        </p:nvGrpSpPr>
        <p:grpSpPr>
          <a:xfrm rot="0">
            <a:off x="4078102" y="6595258"/>
            <a:ext cx="3897278" cy="1852855"/>
            <a:chOff x="0" y="0"/>
            <a:chExt cx="939824" cy="446814"/>
          </a:xfrm>
        </p:grpSpPr>
        <p:sp>
          <p:nvSpPr>
            <p:cNvPr name="Freeform 20" id="20"/>
            <p:cNvSpPr/>
            <p:nvPr/>
          </p:nvSpPr>
          <p:spPr>
            <a:xfrm flipH="false" flipV="false" rot="0">
              <a:off x="0" y="0"/>
              <a:ext cx="939825" cy="446814"/>
            </a:xfrm>
            <a:custGeom>
              <a:avLst/>
              <a:gdLst/>
              <a:ahLst/>
              <a:cxnLst/>
              <a:rect r="r" b="b" t="t" l="l"/>
              <a:pathLst>
                <a:path h="446814" w="939825">
                  <a:moveTo>
                    <a:pt x="939825" y="59595"/>
                  </a:moveTo>
                  <a:lnTo>
                    <a:pt x="939825" y="387219"/>
                  </a:lnTo>
                  <a:cubicBezTo>
                    <a:pt x="939825" y="420133"/>
                    <a:pt x="913143" y="446814"/>
                    <a:pt x="880230" y="446814"/>
                  </a:cubicBezTo>
                  <a:lnTo>
                    <a:pt x="59595" y="446814"/>
                  </a:lnTo>
                  <a:cubicBezTo>
                    <a:pt x="26682" y="446814"/>
                    <a:pt x="0" y="420133"/>
                    <a:pt x="0" y="387219"/>
                  </a:cubicBezTo>
                  <a:lnTo>
                    <a:pt x="0" y="59595"/>
                  </a:lnTo>
                  <a:cubicBezTo>
                    <a:pt x="0" y="26682"/>
                    <a:pt x="26682" y="0"/>
                    <a:pt x="59595" y="0"/>
                  </a:cubicBezTo>
                  <a:lnTo>
                    <a:pt x="880230" y="0"/>
                  </a:lnTo>
                  <a:cubicBezTo>
                    <a:pt x="896035" y="0"/>
                    <a:pt x="911193" y="6279"/>
                    <a:pt x="922370" y="17455"/>
                  </a:cubicBezTo>
                  <a:cubicBezTo>
                    <a:pt x="933546" y="28631"/>
                    <a:pt x="939825" y="43789"/>
                    <a:pt x="939825" y="59595"/>
                  </a:cubicBezTo>
                  <a:close/>
                </a:path>
              </a:pathLst>
            </a:custGeom>
            <a:solidFill>
              <a:srgbClr val="EBEBDD"/>
            </a:solidFill>
            <a:ln w="57150" cap="rnd">
              <a:solidFill>
                <a:srgbClr val="514338"/>
              </a:solidFill>
              <a:prstDash val="solid"/>
              <a:round/>
            </a:ln>
          </p:spPr>
        </p:sp>
        <p:sp>
          <p:nvSpPr>
            <p:cNvPr name="TextBox 21" id="21"/>
            <p:cNvSpPr txBox="true"/>
            <p:nvPr/>
          </p:nvSpPr>
          <p:spPr>
            <a:xfrm>
              <a:off x="0" y="-66675"/>
              <a:ext cx="939824" cy="513489"/>
            </a:xfrm>
            <a:prstGeom prst="rect">
              <a:avLst/>
            </a:prstGeom>
          </p:spPr>
          <p:txBody>
            <a:bodyPr anchor="ctr" rtlCol="false" tIns="55482" lIns="55482" bIns="55482" rIns="55482"/>
            <a:lstStyle/>
            <a:p>
              <a:pPr algn="ctr">
                <a:lnSpc>
                  <a:spcPts val="4479"/>
                </a:lnSpc>
              </a:pPr>
              <a:r>
                <a:rPr lang="en-US" b="true" sz="3199">
                  <a:solidFill>
                    <a:srgbClr val="514338"/>
                  </a:solidFill>
                  <a:latin typeface="Bricolage Grotesque Bold"/>
                  <a:ea typeface="Bricolage Grotesque Bold"/>
                  <a:cs typeface="Bricolage Grotesque Bold"/>
                  <a:sym typeface="Bricolage Grotesque Bold"/>
                </a:rPr>
                <a:t>Improve regional grouping</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400000">
            <a:off x="7600950" y="-8344632"/>
            <a:ext cx="3086100" cy="18288000"/>
            <a:chOff x="0" y="0"/>
            <a:chExt cx="812800" cy="4816593"/>
          </a:xfrm>
        </p:grpSpPr>
        <p:sp>
          <p:nvSpPr>
            <p:cNvPr name="Freeform 3" id="3"/>
            <p:cNvSpPr/>
            <p:nvPr/>
          </p:nvSpPr>
          <p:spPr>
            <a:xfrm flipH="false" flipV="false" rot="0">
              <a:off x="0" y="0"/>
              <a:ext cx="812800" cy="4816592"/>
            </a:xfrm>
            <a:custGeom>
              <a:avLst/>
              <a:gdLst/>
              <a:ahLst/>
              <a:cxnLst/>
              <a:rect r="r" b="b" t="t" l="l"/>
              <a:pathLst>
                <a:path h="4816592" w="812800">
                  <a:moveTo>
                    <a:pt x="609600" y="0"/>
                  </a:moveTo>
                  <a:lnTo>
                    <a:pt x="0" y="0"/>
                  </a:lnTo>
                  <a:lnTo>
                    <a:pt x="203200" y="4816592"/>
                  </a:lnTo>
                  <a:lnTo>
                    <a:pt x="812800" y="4816592"/>
                  </a:lnTo>
                  <a:lnTo>
                    <a:pt x="609600" y="0"/>
                  </a:lnTo>
                  <a:close/>
                </a:path>
              </a:pathLst>
            </a:custGeom>
            <a:solidFill>
              <a:srgbClr val="FBFBF8"/>
            </a:solidFill>
          </p:spPr>
        </p:sp>
        <p:sp>
          <p:nvSpPr>
            <p:cNvPr name="TextBox 4" id="4"/>
            <p:cNvSpPr txBox="true"/>
            <p:nvPr/>
          </p:nvSpPr>
          <p:spPr>
            <a:xfrm>
              <a:off x="101600" y="-38100"/>
              <a:ext cx="609600" cy="485469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name="TextBox 6" id="6"/>
          <p:cNvSpPr txBox="true"/>
          <p:nvPr/>
        </p:nvSpPr>
        <p:spPr>
          <a:xfrm rot="0">
            <a:off x="540702" y="65943"/>
            <a:ext cx="17747298" cy="1426306"/>
          </a:xfrm>
          <a:prstGeom prst="rect">
            <a:avLst/>
          </a:prstGeom>
        </p:spPr>
        <p:txBody>
          <a:bodyPr anchor="t" rtlCol="false" tIns="0" lIns="0" bIns="0" rIns="0">
            <a:spAutoFit/>
          </a:bodyPr>
          <a:lstStyle/>
          <a:p>
            <a:pPr algn="l">
              <a:lnSpc>
                <a:spcPts val="11684"/>
              </a:lnSpc>
            </a:pPr>
            <a:r>
              <a:rPr lang="en-US" sz="8346" b="true">
                <a:solidFill>
                  <a:srgbClr val="514338"/>
                </a:solidFill>
                <a:latin typeface="Bricolage Grotesque Bold"/>
                <a:ea typeface="Bricolage Grotesque Bold"/>
                <a:cs typeface="Bricolage Grotesque Bold"/>
                <a:sym typeface="Bricolage Grotesque Bold"/>
              </a:rPr>
              <a:t>Conclusion</a:t>
            </a:r>
          </a:p>
        </p:txBody>
      </p:sp>
      <p:sp>
        <p:nvSpPr>
          <p:cNvPr name="TextBox 7" id="7"/>
          <p:cNvSpPr txBox="true"/>
          <p:nvPr/>
        </p:nvSpPr>
        <p:spPr>
          <a:xfrm rot="0">
            <a:off x="658434" y="2836753"/>
            <a:ext cx="16971132" cy="6167121"/>
          </a:xfrm>
          <a:prstGeom prst="rect">
            <a:avLst/>
          </a:prstGeom>
        </p:spPr>
        <p:txBody>
          <a:bodyPr anchor="t" rtlCol="false" tIns="0" lIns="0" bIns="0" rIns="0">
            <a:spAutoFit/>
          </a:bodyPr>
          <a:lstStyle/>
          <a:p>
            <a:pPr algn="just">
              <a:lnSpc>
                <a:spcPts val="4479"/>
              </a:lnSpc>
              <a:spcBef>
                <a:spcPct val="0"/>
              </a:spcBef>
            </a:pPr>
            <a:r>
              <a:rPr lang="en-US" sz="3199">
                <a:solidFill>
                  <a:srgbClr val="000000"/>
                </a:solidFill>
                <a:latin typeface="Bricolage Grotesque"/>
                <a:ea typeface="Bricolage Grotesque"/>
                <a:cs typeface="Bricolage Grotesque"/>
                <a:sym typeface="Bricolage Grotesque"/>
              </a:rPr>
              <a:t>The ML Retail Project successfully developed an end-to-end machine learning pipeline to optimize marketing decisions through an interactive web application. By combining an XGBoost churn prediction model, a K-Means behavior classifier that segments users into four distinct customer personas, and a Random Forest Regressor for revenue forecasting, the project effectively translates complex data into actionable business insights. However, the development process revealed significant challenges—such as churn data leakage, negative monetary values, and erronic data where tenure exceeded recency—which hindered initial model performance. Moving forward, the project aims to address these limitations by fixing data leakage, handling class imbalances, and introducing time-series modeling to further enhance the reliability of its regional groupings and overall financial forecasts.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BFBF8"/>
        </a:solidFill>
      </p:bgPr>
    </p:bg>
    <p:spTree>
      <p:nvGrpSpPr>
        <p:cNvPr id="1" name=""/>
        <p:cNvGrpSpPr/>
        <p:nvPr/>
      </p:nvGrpSpPr>
      <p:grpSpPr>
        <a:xfrm>
          <a:off x="0" y="0"/>
          <a:ext cx="0" cy="0"/>
          <a:chOff x="0" y="0"/>
          <a:chExt cx="0" cy="0"/>
        </a:xfrm>
      </p:grpSpPr>
      <p:grpSp>
        <p:nvGrpSpPr>
          <p:cNvPr name="Group 2" id="2"/>
          <p:cNvGrpSpPr/>
          <p:nvPr/>
        </p:nvGrpSpPr>
        <p:grpSpPr>
          <a:xfrm rot="5389150">
            <a:off x="8324927" y="1829513"/>
            <a:ext cx="12935992" cy="6594820"/>
            <a:chOff x="0" y="0"/>
            <a:chExt cx="647700" cy="330200"/>
          </a:xfrm>
        </p:grpSpPr>
        <p:sp>
          <p:nvSpPr>
            <p:cNvPr name="Freeform 3" id="3"/>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FBFBF8"/>
            </a:solidFill>
          </p:spPr>
        </p:sp>
        <p:sp>
          <p:nvSpPr>
            <p:cNvPr name="TextBox 4" id="4"/>
            <p:cNvSpPr txBox="true"/>
            <p:nvPr/>
          </p:nvSpPr>
          <p:spPr>
            <a:xfrm>
              <a:off x="152400" y="12700"/>
              <a:ext cx="342900" cy="317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389150">
            <a:off x="9407117" y="2983090"/>
            <a:ext cx="8492068" cy="4329290"/>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FBFBF8"/>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3609959"/>
            <a:ext cx="8618434" cy="2905157"/>
          </a:xfrm>
          <a:prstGeom prst="rect">
            <a:avLst/>
          </a:prstGeom>
        </p:spPr>
        <p:txBody>
          <a:bodyPr anchor="t" rtlCol="false" tIns="0" lIns="0" bIns="0" rIns="0">
            <a:spAutoFit/>
          </a:bodyPr>
          <a:lstStyle/>
          <a:p>
            <a:pPr algn="ctr">
              <a:lnSpc>
                <a:spcPts val="11684"/>
              </a:lnSpc>
            </a:pPr>
            <a:r>
              <a:rPr lang="en-US" sz="8346" b="true">
                <a:solidFill>
                  <a:srgbClr val="514338"/>
                </a:solidFill>
                <a:latin typeface="Bricolage Grotesque Bold"/>
                <a:ea typeface="Bricolage Grotesque Bold"/>
                <a:cs typeface="Bricolage Grotesque Bold"/>
                <a:sym typeface="Bricolage Grotesque Bold"/>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DAHG585z7Ms</dc:identifier>
  <dcterms:modified xsi:type="dcterms:W3CDTF">2011-08-01T06:04:30Z</dcterms:modified>
  <cp:revision>1</cp:revision>
  <dc:title>ML Retail Project</dc:title>
</cp:coreProperties>
</file>